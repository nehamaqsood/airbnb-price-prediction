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70" r:id="rId12"/>
    <p:sldId id="269" r:id="rId13"/>
    <p:sldId id="263" r:id="rId14"/>
    <p:sldId id="264" r:id="rId15"/>
    <p:sldId id="273" r:id="rId16"/>
    <p:sldId id="274" r:id="rId17"/>
    <p:sldId id="275" r:id="rId18"/>
    <p:sldId id="271" r:id="rId19"/>
    <p:sldId id="27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A60"/>
    <a:srgbClr val="FF9B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17CF13-1217-2CEA-8146-DDD94537E046}" v="230" dt="2025-10-14T01:37:57.509"/>
    <p1510:client id="{8107531A-0B07-540D-829B-A15C85626E69}" v="813" dt="2025-10-14T02:38:46.962"/>
    <p1510:client id="{EAA05420-8B96-482A-926A-807E731B6C98}" v="976" dt="2025-10-14T02:18:04.34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A95A6-24BB-464A-8340-290963D25897}"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3BBC58-5DCB-4A98-AED5-004E6DF92378}" type="slidenum">
              <a:rPr lang="zh-CN" altLang="en-US" smtClean="0"/>
              <a:t>‹#›</a:t>
            </a:fld>
            <a:endParaRPr lang="zh-CN" altLang="en-US"/>
          </a:p>
        </p:txBody>
      </p:sp>
    </p:spTree>
    <p:extLst>
      <p:ext uri="{BB962C8B-B14F-4D97-AF65-F5344CB8AC3E}">
        <p14:creationId xmlns:p14="http://schemas.microsoft.com/office/powerpoint/2010/main" val="2590812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3BBC58-5DCB-4A98-AED5-004E6DF92378}" type="slidenum">
              <a:rPr lang="zh-CN" altLang="en-US" smtClean="0"/>
              <a:t>2</a:t>
            </a:fld>
            <a:endParaRPr lang="zh-CN" altLang="en-US"/>
          </a:p>
        </p:txBody>
      </p:sp>
    </p:spTree>
    <p:extLst>
      <p:ext uri="{BB962C8B-B14F-4D97-AF65-F5344CB8AC3E}">
        <p14:creationId xmlns:p14="http://schemas.microsoft.com/office/powerpoint/2010/main" val="838872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3645F-95E7-1C60-4AE1-448488DDB8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7FFDA7-7542-8422-AE3B-5B9AB81564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48CD16-8C7F-3339-9C67-41A25CEAD6D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F77181-4CA5-08E7-458D-D84952AFEA77}"/>
              </a:ext>
            </a:extLst>
          </p:cNvPr>
          <p:cNvSpPr>
            <a:spLocks noGrp="1"/>
          </p:cNvSpPr>
          <p:nvPr>
            <p:ph type="sldNum" sz="quarter" idx="5"/>
          </p:nvPr>
        </p:nvSpPr>
        <p:spPr/>
        <p:txBody>
          <a:bodyPr/>
          <a:lstStyle/>
          <a:p>
            <a:fld id="{1E3BBC58-5DCB-4A98-AED5-004E6DF92378}" type="slidenum">
              <a:rPr lang="zh-CN" altLang="en-US" smtClean="0"/>
              <a:t>3</a:t>
            </a:fld>
            <a:endParaRPr lang="zh-CN" altLang="en-US"/>
          </a:p>
        </p:txBody>
      </p:sp>
    </p:spTree>
    <p:extLst>
      <p:ext uri="{BB962C8B-B14F-4D97-AF65-F5344CB8AC3E}">
        <p14:creationId xmlns:p14="http://schemas.microsoft.com/office/powerpoint/2010/main" val="1590071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10980-AB4A-F570-9137-E63A0F53B2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D96530-82EB-A3D6-65E6-7F9C309300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4D2FAF-15E3-EA7A-75A7-93311F44123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E54524A-DED4-C58E-C9A0-FCDD2ADD904F}"/>
              </a:ext>
            </a:extLst>
          </p:cNvPr>
          <p:cNvSpPr>
            <a:spLocks noGrp="1"/>
          </p:cNvSpPr>
          <p:nvPr>
            <p:ph type="sldNum" sz="quarter" idx="5"/>
          </p:nvPr>
        </p:nvSpPr>
        <p:spPr/>
        <p:txBody>
          <a:bodyPr/>
          <a:lstStyle/>
          <a:p>
            <a:fld id="{1E3BBC58-5DCB-4A98-AED5-004E6DF92378}" type="slidenum">
              <a:rPr lang="zh-CN" altLang="en-US" smtClean="0"/>
              <a:t>4</a:t>
            </a:fld>
            <a:endParaRPr lang="zh-CN" altLang="en-US"/>
          </a:p>
        </p:txBody>
      </p:sp>
    </p:spTree>
    <p:extLst>
      <p:ext uri="{BB962C8B-B14F-4D97-AF65-F5344CB8AC3E}">
        <p14:creationId xmlns:p14="http://schemas.microsoft.com/office/powerpoint/2010/main" val="260060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BE01-A0F7-DD8E-352F-261899EE9A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74BB00-CE9E-966C-637D-D79EDBDACA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9E4772-1C4C-5225-790D-62A470AFF6C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9D56E7E-B915-5346-9DE8-087C4F9297E7}"/>
              </a:ext>
            </a:extLst>
          </p:cNvPr>
          <p:cNvSpPr>
            <a:spLocks noGrp="1"/>
          </p:cNvSpPr>
          <p:nvPr>
            <p:ph type="sldNum" sz="quarter" idx="5"/>
          </p:nvPr>
        </p:nvSpPr>
        <p:spPr/>
        <p:txBody>
          <a:bodyPr/>
          <a:lstStyle/>
          <a:p>
            <a:fld id="{1E3BBC58-5DCB-4A98-AED5-004E6DF92378}" type="slidenum">
              <a:rPr lang="zh-CN" altLang="en-US" smtClean="0"/>
              <a:t>5</a:t>
            </a:fld>
            <a:endParaRPr lang="zh-CN" altLang="en-US"/>
          </a:p>
        </p:txBody>
      </p:sp>
    </p:spTree>
    <p:extLst>
      <p:ext uri="{BB962C8B-B14F-4D97-AF65-F5344CB8AC3E}">
        <p14:creationId xmlns:p14="http://schemas.microsoft.com/office/powerpoint/2010/main" val="1595114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5F81-4BD4-397A-EE04-F8DE6019E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A3657B-F0EA-26AF-85A9-1BE24976D9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5F555A-F0DB-FC3A-E980-F5BFDA2408F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1D654C0-031E-BBC1-9BF0-C93269623499}"/>
              </a:ext>
            </a:extLst>
          </p:cNvPr>
          <p:cNvSpPr>
            <a:spLocks noGrp="1"/>
          </p:cNvSpPr>
          <p:nvPr>
            <p:ph type="sldNum" sz="quarter" idx="5"/>
          </p:nvPr>
        </p:nvSpPr>
        <p:spPr/>
        <p:txBody>
          <a:bodyPr/>
          <a:lstStyle/>
          <a:p>
            <a:fld id="{1E3BBC58-5DCB-4A98-AED5-004E6DF92378}" type="slidenum">
              <a:rPr lang="zh-CN" altLang="en-US" smtClean="0"/>
              <a:t>6</a:t>
            </a:fld>
            <a:endParaRPr lang="zh-CN" altLang="en-US"/>
          </a:p>
        </p:txBody>
      </p:sp>
    </p:spTree>
    <p:extLst>
      <p:ext uri="{BB962C8B-B14F-4D97-AF65-F5344CB8AC3E}">
        <p14:creationId xmlns:p14="http://schemas.microsoft.com/office/powerpoint/2010/main" val="234003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FE46-D58A-EAA5-DAE9-E2BC38D10E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CD68D7-7059-0F2C-A29F-E72C81250E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84784-FD58-A3F8-B587-407BA0715D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C66C468-2FFB-D642-DDBE-FB408A974DC3}"/>
              </a:ext>
            </a:extLst>
          </p:cNvPr>
          <p:cNvSpPr>
            <a:spLocks noGrp="1"/>
          </p:cNvSpPr>
          <p:nvPr>
            <p:ph type="sldNum" sz="quarter" idx="5"/>
          </p:nvPr>
        </p:nvSpPr>
        <p:spPr/>
        <p:txBody>
          <a:bodyPr/>
          <a:lstStyle/>
          <a:p>
            <a:fld id="{1E3BBC58-5DCB-4A98-AED5-004E6DF92378}" type="slidenum">
              <a:rPr lang="zh-CN" altLang="en-US" smtClean="0"/>
              <a:t>8</a:t>
            </a:fld>
            <a:endParaRPr lang="zh-CN" altLang="en-US"/>
          </a:p>
        </p:txBody>
      </p:sp>
    </p:spTree>
    <p:extLst>
      <p:ext uri="{BB962C8B-B14F-4D97-AF65-F5344CB8AC3E}">
        <p14:creationId xmlns:p14="http://schemas.microsoft.com/office/powerpoint/2010/main" val="1509578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AF0C7-DFA6-162A-C1AB-1112733B76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1545CD-99C6-F704-7B26-C1E8B1CDD7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1070F5-ECC2-443C-5D57-01E182E4FA8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2A037AE-93A0-0B70-F3B3-A00CD4D2E195}"/>
              </a:ext>
            </a:extLst>
          </p:cNvPr>
          <p:cNvSpPr>
            <a:spLocks noGrp="1"/>
          </p:cNvSpPr>
          <p:nvPr>
            <p:ph type="sldNum" sz="quarter" idx="5"/>
          </p:nvPr>
        </p:nvSpPr>
        <p:spPr/>
        <p:txBody>
          <a:bodyPr/>
          <a:lstStyle/>
          <a:p>
            <a:fld id="{1E3BBC58-5DCB-4A98-AED5-004E6DF92378}" type="slidenum">
              <a:rPr lang="zh-CN" altLang="en-US" smtClean="0"/>
              <a:t>9</a:t>
            </a:fld>
            <a:endParaRPr lang="zh-CN" altLang="en-US"/>
          </a:p>
        </p:txBody>
      </p:sp>
    </p:spTree>
    <p:extLst>
      <p:ext uri="{BB962C8B-B14F-4D97-AF65-F5344CB8AC3E}">
        <p14:creationId xmlns:p14="http://schemas.microsoft.com/office/powerpoint/2010/main" val="3245075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3BBC58-5DCB-4A98-AED5-004E6DF92378}" type="slidenum">
              <a:rPr lang="zh-CN" altLang="en-US" smtClean="0"/>
              <a:t>10</a:t>
            </a:fld>
            <a:endParaRPr lang="zh-CN" altLang="en-US"/>
          </a:p>
        </p:txBody>
      </p:sp>
    </p:spTree>
    <p:extLst>
      <p:ext uri="{BB962C8B-B14F-4D97-AF65-F5344CB8AC3E}">
        <p14:creationId xmlns:p14="http://schemas.microsoft.com/office/powerpoint/2010/main" val="1624979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3BBC58-5DCB-4A98-AED5-004E6DF92378}" type="slidenum">
              <a:rPr lang="zh-CN" altLang="en-US" smtClean="0"/>
              <a:t>14</a:t>
            </a:fld>
            <a:endParaRPr lang="zh-CN" altLang="en-US"/>
          </a:p>
        </p:txBody>
      </p:sp>
    </p:spTree>
    <p:extLst>
      <p:ext uri="{BB962C8B-B14F-4D97-AF65-F5344CB8AC3E}">
        <p14:creationId xmlns:p14="http://schemas.microsoft.com/office/powerpoint/2010/main" val="2135996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517E-353B-D80A-2EC9-CFFDA043AB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74048B-F92B-16F4-CB2B-F9E5CEDFF4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657A59-9C87-347A-771B-EAE389E2EEB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054C82B-1AF8-A60A-7FAD-724478AF6361}"/>
              </a:ext>
            </a:extLst>
          </p:cNvPr>
          <p:cNvSpPr>
            <a:spLocks noGrp="1"/>
          </p:cNvSpPr>
          <p:nvPr>
            <p:ph type="sldNum" sz="quarter" idx="5"/>
          </p:nvPr>
        </p:nvSpPr>
        <p:spPr/>
        <p:txBody>
          <a:bodyPr/>
          <a:lstStyle/>
          <a:p>
            <a:fld id="{1E3BBC58-5DCB-4A98-AED5-004E6DF92378}" type="slidenum">
              <a:rPr lang="zh-CN" altLang="en-US" smtClean="0"/>
              <a:t>15</a:t>
            </a:fld>
            <a:endParaRPr lang="zh-CN" altLang="en-US"/>
          </a:p>
        </p:txBody>
      </p:sp>
    </p:spTree>
    <p:extLst>
      <p:ext uri="{BB962C8B-B14F-4D97-AF65-F5344CB8AC3E}">
        <p14:creationId xmlns:p14="http://schemas.microsoft.com/office/powerpoint/2010/main" val="3466090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1A03-8C9B-B6D8-C0F1-507BCF7B59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0F3FAC-7D14-6D76-0056-A5958EA490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BF450D-2D17-E46C-17D4-3F1E66628A9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9CF412-DD40-0E87-B8B5-A918D9BC6EB5}"/>
              </a:ext>
            </a:extLst>
          </p:cNvPr>
          <p:cNvSpPr>
            <a:spLocks noGrp="1"/>
          </p:cNvSpPr>
          <p:nvPr>
            <p:ph type="sldNum" sz="quarter" idx="5"/>
          </p:nvPr>
        </p:nvSpPr>
        <p:spPr/>
        <p:txBody>
          <a:bodyPr/>
          <a:lstStyle/>
          <a:p>
            <a:fld id="{1E3BBC58-5DCB-4A98-AED5-004E6DF92378}" type="slidenum">
              <a:rPr lang="zh-CN" altLang="en-US" smtClean="0"/>
              <a:t>16</a:t>
            </a:fld>
            <a:endParaRPr lang="zh-CN" altLang="en-US"/>
          </a:p>
        </p:txBody>
      </p:sp>
    </p:spTree>
    <p:extLst>
      <p:ext uri="{BB962C8B-B14F-4D97-AF65-F5344CB8AC3E}">
        <p14:creationId xmlns:p14="http://schemas.microsoft.com/office/powerpoint/2010/main" val="1117223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66D6-9A42-4E35-C46B-8AFADFB171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09FB6E4-3F59-7C57-1FA4-227156D9C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354704-DDBA-1671-CFAB-C8C4BCE3C5D1}"/>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61C57BDD-675D-9A0E-E8AD-8364839858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F1BCAC-B7E8-3511-CB3B-CA5A1D4A4E59}"/>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984485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B71EEF-1490-965F-4CAF-34E25EFF89A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98D3A0-6E3E-5741-2045-5C98E9559CA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23DFE3-8881-662B-5038-7AEC95BA07D3}"/>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32E1868F-442A-54B0-A363-1F46B44281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8E502D-3362-3CF6-4A0F-1C08CACD43F7}"/>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1923407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4615BC-6004-7DFC-379C-6043CB4DEF4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D2427B7-5D17-0EF4-EA2F-DF91C335B0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48D39E7-3EB7-3D78-8D0B-EC665F5A509A}"/>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22ED6F19-CD55-92EA-749D-7D8D65D99D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2A0E4F-E62D-AC58-57CA-A7449E481C00}"/>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3233962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6D0E1-BB43-A4E3-DE9E-7F660CD79F8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75F17A1-8E1E-0DD7-F426-C79F87B8A0B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FBDB2C4-9017-05EE-F6E3-BC0D9435BED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5806523-9373-DB84-38A0-2264EE5A913E}"/>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6" name="页脚占位符 5">
            <a:extLst>
              <a:ext uri="{FF2B5EF4-FFF2-40B4-BE49-F238E27FC236}">
                <a16:creationId xmlns:a16="http://schemas.microsoft.com/office/drawing/2014/main" id="{B2D4AD10-9D80-9772-D7DF-5E5BAB19C51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C0302D-3207-7E6A-3673-6AD5910717B8}"/>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3231303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BBAE0B-D278-FCE2-B2A9-06E8F7A1F2F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CBDD16-1863-5E8E-964B-FC6656714B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9FB924-61D7-296D-D9E5-AEF59BAC297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90F392A-107C-28EB-89C4-8B315E20E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9CC35-5171-0B99-8E27-8E348FF5FD8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215102-7E59-F0C4-9FA0-3B5D595A3BC9}"/>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8" name="页脚占位符 7">
            <a:extLst>
              <a:ext uri="{FF2B5EF4-FFF2-40B4-BE49-F238E27FC236}">
                <a16:creationId xmlns:a16="http://schemas.microsoft.com/office/drawing/2014/main" id="{ED8E14B8-CC7C-FF96-773C-D4E952ADF9B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AA41334-9371-17A1-A810-448FB6DCCD1D}"/>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24462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A265D1-B01A-814F-FD46-0978257B578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4421BA-13B7-D9F8-FA9A-5B5510C3F366}"/>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4" name="页脚占位符 3">
            <a:extLst>
              <a:ext uri="{FF2B5EF4-FFF2-40B4-BE49-F238E27FC236}">
                <a16:creationId xmlns:a16="http://schemas.microsoft.com/office/drawing/2014/main" id="{096194AF-D462-8DDC-9A1A-8F6F9CF9FFD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B5FEDE-B6CF-E270-1BAB-750C84ACBDEF}"/>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3916333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D62823B-EC61-1673-170F-92EE87680496}"/>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3" name="页脚占位符 2">
            <a:extLst>
              <a:ext uri="{FF2B5EF4-FFF2-40B4-BE49-F238E27FC236}">
                <a16:creationId xmlns:a16="http://schemas.microsoft.com/office/drawing/2014/main" id="{DC1E9B9A-F9AF-9348-6EE5-D744F5BAA0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618075D-7379-359E-5E11-8CA303A7943E}"/>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4257721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DCBC3-456F-CDBD-5FCD-986FBD55585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AA56C0-E451-207B-C231-0318815A54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72D6DCF-FBA8-C128-4AE5-19FAAFFB6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770F9D-E99B-BB5F-6013-E231B889A932}"/>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6" name="页脚占位符 5">
            <a:extLst>
              <a:ext uri="{FF2B5EF4-FFF2-40B4-BE49-F238E27FC236}">
                <a16:creationId xmlns:a16="http://schemas.microsoft.com/office/drawing/2014/main" id="{2FF47034-43E3-4E9A-093F-D2F7E13EE04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8FF722-6689-57BF-9992-516E9F998E0D}"/>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1536648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AD046-B3BE-1442-8378-8E26F3F5A55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D32BBCB-E8F1-56B0-8F56-C21DB1AB9A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3439B5B-011A-3DC4-1191-69104F282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56422A-D693-51FC-8EC0-E7C8F14C7F58}"/>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6" name="页脚占位符 5">
            <a:extLst>
              <a:ext uri="{FF2B5EF4-FFF2-40B4-BE49-F238E27FC236}">
                <a16:creationId xmlns:a16="http://schemas.microsoft.com/office/drawing/2014/main" id="{7EB9E79F-C111-2462-1225-F6823DF2A4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1AFB53-0F73-9A62-F16B-6DF5B56D65A8}"/>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392525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839C6-C544-4BB3-EF2E-6432D83956A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22F93B-FEF5-9FC0-C83C-23FAD9DE2F0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563F98-19EF-71F7-7459-F419C92E5C6D}"/>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2375478B-8148-1D21-83D5-001CEE1E4E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D8A8AD-AA80-F52F-E5A3-59D43DA500B2}"/>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1397222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861858-73D4-CE3C-407F-25D49B976A7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A96C90A-3635-36E7-FE51-0F3D0EAD63C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70011D-C1BB-1357-7645-C3327F92038D}"/>
              </a:ext>
            </a:extLst>
          </p:cNvPr>
          <p:cNvSpPr>
            <a:spLocks noGrp="1"/>
          </p:cNvSpPr>
          <p:nvPr>
            <p:ph type="dt" sz="half" idx="10"/>
          </p:nvPr>
        </p:nvSpPr>
        <p:spPr/>
        <p:txBody>
          <a:body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4E369FEF-4F54-EDD1-AE07-990A0DDA91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9BA117-2EDB-4211-FD25-A06466FDF16A}"/>
              </a:ext>
            </a:extLst>
          </p:cNvPr>
          <p:cNvSpPr>
            <a:spLocks noGrp="1"/>
          </p:cNvSpPr>
          <p:nvPr>
            <p:ph type="sldNum" sz="quarter" idx="12"/>
          </p:nvPr>
        </p:nvSpPr>
        <p:spPr/>
        <p:txBody>
          <a:body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3896371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C9C274D-8DB2-61B7-1809-AF16A5B36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6786BD8-83D8-A198-532E-AB634178CF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6B0AF4-24BC-F3A7-D09B-8E704369A2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EB140B-8144-4D80-BC29-7CA0A421960D}" type="datetimeFigureOut">
              <a:rPr lang="zh-CN" altLang="en-US" smtClean="0"/>
              <a:t>2025/10/13</a:t>
            </a:fld>
            <a:endParaRPr lang="zh-CN" altLang="en-US"/>
          </a:p>
        </p:txBody>
      </p:sp>
      <p:sp>
        <p:nvSpPr>
          <p:cNvPr id="5" name="页脚占位符 4">
            <a:extLst>
              <a:ext uri="{FF2B5EF4-FFF2-40B4-BE49-F238E27FC236}">
                <a16:creationId xmlns:a16="http://schemas.microsoft.com/office/drawing/2014/main" id="{8CA87E89-6CF9-348E-1E53-103EBE1EE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08302F0-B9C1-C0B9-03E5-6D600510C9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33A4F7-2F66-4A91-815A-07F9391DB5B9}" type="slidenum">
              <a:rPr lang="zh-CN" altLang="en-US" smtClean="0"/>
              <a:t>‹#›</a:t>
            </a:fld>
            <a:endParaRPr lang="zh-CN" altLang="en-US"/>
          </a:p>
        </p:txBody>
      </p:sp>
    </p:spTree>
    <p:extLst>
      <p:ext uri="{BB962C8B-B14F-4D97-AF65-F5344CB8AC3E}">
        <p14:creationId xmlns:p14="http://schemas.microsoft.com/office/powerpoint/2010/main" val="1176722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jpe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emf"/></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在顶部视图上的渐变蜡笔色">
            <a:extLst>
              <a:ext uri="{FF2B5EF4-FFF2-40B4-BE49-F238E27FC236}">
                <a16:creationId xmlns:a16="http://schemas.microsoft.com/office/drawing/2014/main" id="{2BBC813A-F7B0-8EE0-9DC5-A3E324D2D305}"/>
              </a:ext>
            </a:extLst>
          </p:cNvPr>
          <p:cNvPicPr>
            <a:picLocks noGrp="1" noRot="1" noChangeAspect="1" noMove="1" noResize="1" noEditPoints="1" noAdjustHandles="1" noChangeArrowheads="1" noChangeShapeType="1" noCrop="1"/>
          </p:cNvPicPr>
          <p:nvPr/>
        </p:nvPicPr>
        <p:blipFill rotWithShape="1">
          <a:blip r:embed="rId2"/>
          <a:srcRect t="11175" r="1" b="2217"/>
          <a:stretch/>
        </p:blipFill>
        <p:spPr>
          <a:xfrm>
            <a:off x="6588080" y="10"/>
            <a:ext cx="5600872" cy="6857990"/>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p:spPr>
      </p:pic>
      <p:grpSp>
        <p:nvGrpSpPr>
          <p:cNvPr id="12" name="组合 11">
            <a:extLst>
              <a:ext uri="{FF2B5EF4-FFF2-40B4-BE49-F238E27FC236}">
                <a16:creationId xmlns:a16="http://schemas.microsoft.com/office/drawing/2014/main" id="{A0AEFC03-116D-A9C9-3E4B-B28257374919}"/>
              </a:ext>
            </a:extLst>
          </p:cNvPr>
          <p:cNvGrpSpPr/>
          <p:nvPr/>
        </p:nvGrpSpPr>
        <p:grpSpPr>
          <a:xfrm>
            <a:off x="963874" y="4496339"/>
            <a:ext cx="4743778" cy="88601"/>
            <a:chOff x="947891" y="5086889"/>
            <a:chExt cx="4743778" cy="88601"/>
          </a:xfrm>
        </p:grpSpPr>
        <p:grpSp>
          <p:nvGrpSpPr>
            <p:cNvPr id="11" name="组合 10">
              <a:extLst>
                <a:ext uri="{FF2B5EF4-FFF2-40B4-BE49-F238E27FC236}">
                  <a16:creationId xmlns:a16="http://schemas.microsoft.com/office/drawing/2014/main" id="{4C981865-EC88-F62F-EE2C-7AB3F4700EC7}"/>
                </a:ext>
              </a:extLst>
            </p:cNvPr>
            <p:cNvGrpSpPr/>
            <p:nvPr/>
          </p:nvGrpSpPr>
          <p:grpSpPr>
            <a:xfrm>
              <a:off x="947891" y="5086889"/>
              <a:ext cx="2616210" cy="88601"/>
              <a:chOff x="947891" y="5086889"/>
              <a:chExt cx="2616210" cy="88601"/>
            </a:xfrm>
          </p:grpSpPr>
          <p:cxnSp>
            <p:nvCxnSpPr>
              <p:cNvPr id="6" name="直接连接符 5">
                <a:extLst>
                  <a:ext uri="{FF2B5EF4-FFF2-40B4-BE49-F238E27FC236}">
                    <a16:creationId xmlns:a16="http://schemas.microsoft.com/office/drawing/2014/main" id="{3CB194CC-443C-2DE3-42EB-8BA112FCCA74}"/>
                  </a:ext>
                </a:extLst>
              </p:cNvPr>
              <p:cNvCxnSpPr>
                <a:cxnSpLocks/>
              </p:cNvCxnSpPr>
              <p:nvPr/>
            </p:nvCxnSpPr>
            <p:spPr>
              <a:xfrm>
                <a:off x="947891" y="5131194"/>
                <a:ext cx="1993102" cy="0"/>
              </a:xfrm>
              <a:prstGeom prst="line">
                <a:avLst/>
              </a:prstGeom>
              <a:ln w="28575">
                <a:gradFill flip="none" rotWithShape="1">
                  <a:gsLst>
                    <a:gs pos="0">
                      <a:srgbClr val="AEB9D1"/>
                    </a:gs>
                    <a:gs pos="50000">
                      <a:srgbClr val="DDCCDC"/>
                    </a:gs>
                    <a:gs pos="100000">
                      <a:srgbClr val="FEC4CC"/>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C24D19EC-27AF-D745-62D9-E0AE6F7A2FA8}"/>
                  </a:ext>
                </a:extLst>
              </p:cNvPr>
              <p:cNvSpPr/>
              <p:nvPr/>
            </p:nvSpPr>
            <p:spPr>
              <a:xfrm>
                <a:off x="3267118" y="5086889"/>
                <a:ext cx="88878" cy="88601"/>
              </a:xfrm>
              <a:prstGeom prst="ellipse">
                <a:avLst/>
              </a:prstGeom>
              <a:solidFill>
                <a:srgbClr val="E57691"/>
              </a:solidFill>
              <a:ln>
                <a:solidFill>
                  <a:srgbClr val="E576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7AF94FA-091E-0ADD-3D55-150A2D496133}"/>
                  </a:ext>
                </a:extLst>
              </p:cNvPr>
              <p:cNvSpPr/>
              <p:nvPr/>
            </p:nvSpPr>
            <p:spPr>
              <a:xfrm>
                <a:off x="3475223" y="5086889"/>
                <a:ext cx="88878" cy="88599"/>
              </a:xfrm>
              <a:prstGeom prst="ellipse">
                <a:avLst/>
              </a:prstGeom>
              <a:solidFill>
                <a:srgbClr val="EFAAB5"/>
              </a:solidFill>
              <a:ln>
                <a:solidFill>
                  <a:srgbClr val="EFAA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F58E9C9F-61A1-852F-B7B5-C2B089F3059C}"/>
                  </a:ext>
                </a:extLst>
              </p:cNvPr>
              <p:cNvSpPr/>
              <p:nvPr/>
            </p:nvSpPr>
            <p:spPr>
              <a:xfrm>
                <a:off x="3059616" y="5086889"/>
                <a:ext cx="88878" cy="88601"/>
              </a:xfrm>
              <a:prstGeom prst="ellipse">
                <a:avLst/>
              </a:prstGeom>
              <a:solidFill>
                <a:srgbClr val="FDC4CB"/>
              </a:solidFill>
              <a:ln>
                <a:solidFill>
                  <a:srgbClr val="FDC4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 name="直接连接符 9">
              <a:extLst>
                <a:ext uri="{FF2B5EF4-FFF2-40B4-BE49-F238E27FC236}">
                  <a16:creationId xmlns:a16="http://schemas.microsoft.com/office/drawing/2014/main" id="{B816E59E-799E-F0BB-743E-07F7037C161D}"/>
                </a:ext>
              </a:extLst>
            </p:cNvPr>
            <p:cNvCxnSpPr>
              <a:cxnSpLocks/>
            </p:cNvCxnSpPr>
            <p:nvPr/>
          </p:nvCxnSpPr>
          <p:spPr>
            <a:xfrm>
              <a:off x="3698567" y="5131188"/>
              <a:ext cx="1993102" cy="0"/>
            </a:xfrm>
            <a:prstGeom prst="line">
              <a:avLst/>
            </a:prstGeom>
            <a:ln w="28575">
              <a:gradFill flip="none" rotWithShape="1">
                <a:gsLst>
                  <a:gs pos="100000">
                    <a:srgbClr val="AEB9D1"/>
                  </a:gs>
                  <a:gs pos="50000">
                    <a:srgbClr val="DDCCDC"/>
                  </a:gs>
                  <a:gs pos="0">
                    <a:srgbClr val="FEC4CC"/>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1026" name="Picture 2" descr="Airbnb · GitHub">
            <a:extLst>
              <a:ext uri="{FF2B5EF4-FFF2-40B4-BE49-F238E27FC236}">
                <a16:creationId xmlns:a16="http://schemas.microsoft.com/office/drawing/2014/main" id="{D6D1DD46-EE5C-47E2-847A-7C901626B881}"/>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7810501" y="1450181"/>
            <a:ext cx="3957638" cy="3957638"/>
          </a:xfrm>
          <a:prstGeom prst="rect">
            <a:avLst/>
          </a:prstGeom>
          <a:noFill/>
          <a:extLst>
            <a:ext uri="{909E8E84-426E-40DD-AFC4-6F175D3DCCD1}">
              <a14:hiddenFill xmlns:a14="http://schemas.microsoft.com/office/drawing/2010/main">
                <a:solidFill>
                  <a:srgbClr val="FFFFFF"/>
                </a:solidFill>
              </a14:hiddenFill>
            </a:ext>
          </a:extLst>
        </p:spPr>
      </p:pic>
      <p:pic>
        <p:nvPicPr>
          <p:cNvPr id="14" name="图形 13" descr="家 1 纯色填充">
            <a:extLst>
              <a:ext uri="{FF2B5EF4-FFF2-40B4-BE49-F238E27FC236}">
                <a16:creationId xmlns:a16="http://schemas.microsoft.com/office/drawing/2014/main" id="{AB7D494D-4E4B-A62D-9447-2677FBBEAF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0526" y="1825804"/>
            <a:ext cx="914400" cy="914400"/>
          </a:xfrm>
          <a:prstGeom prst="rect">
            <a:avLst/>
          </a:prstGeom>
        </p:spPr>
      </p:pic>
      <p:pic>
        <p:nvPicPr>
          <p:cNvPr id="16" name="图形 15" descr="主页 纯色填充">
            <a:extLst>
              <a:ext uri="{FF2B5EF4-FFF2-40B4-BE49-F238E27FC236}">
                <a16:creationId xmlns:a16="http://schemas.microsoft.com/office/drawing/2014/main" id="{991B0CAA-6F99-802A-53AC-67EDDF228C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1303645">
            <a:off x="11496282" y="5394059"/>
            <a:ext cx="531619" cy="531619"/>
          </a:xfrm>
          <a:prstGeom prst="rect">
            <a:avLst/>
          </a:prstGeom>
        </p:spPr>
      </p:pic>
      <p:pic>
        <p:nvPicPr>
          <p:cNvPr id="18" name="图形 17" descr="房子 纯色填充">
            <a:extLst>
              <a:ext uri="{FF2B5EF4-FFF2-40B4-BE49-F238E27FC236}">
                <a16:creationId xmlns:a16="http://schemas.microsoft.com/office/drawing/2014/main" id="{DC9C6D7C-BF9A-9D9B-2BCD-B0AF1B68EF4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70918">
            <a:off x="11499450" y="3441728"/>
            <a:ext cx="598042" cy="598042"/>
          </a:xfrm>
          <a:prstGeom prst="rect">
            <a:avLst/>
          </a:prstGeom>
        </p:spPr>
      </p:pic>
      <p:pic>
        <p:nvPicPr>
          <p:cNvPr id="20" name="图形 19" descr="浴缸 纯色填充">
            <a:extLst>
              <a:ext uri="{FF2B5EF4-FFF2-40B4-BE49-F238E27FC236}">
                <a16:creationId xmlns:a16="http://schemas.microsoft.com/office/drawing/2014/main" id="{0E1AB05E-544E-B9FC-C93C-F48E05EBF3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21053519">
            <a:off x="7534813" y="3768573"/>
            <a:ext cx="914400" cy="914400"/>
          </a:xfrm>
          <a:prstGeom prst="rect">
            <a:avLst/>
          </a:prstGeom>
        </p:spPr>
      </p:pic>
      <p:pic>
        <p:nvPicPr>
          <p:cNvPr id="22" name="图形 21" descr="床 纯色填充">
            <a:extLst>
              <a:ext uri="{FF2B5EF4-FFF2-40B4-BE49-F238E27FC236}">
                <a16:creationId xmlns:a16="http://schemas.microsoft.com/office/drawing/2014/main" id="{69396EFC-B41F-43F6-CBC8-9287DA900F3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20996711">
            <a:off x="8552107" y="316350"/>
            <a:ext cx="1026026" cy="1026026"/>
          </a:xfrm>
          <a:prstGeom prst="rect">
            <a:avLst/>
          </a:prstGeom>
        </p:spPr>
      </p:pic>
      <p:pic>
        <p:nvPicPr>
          <p:cNvPr id="24" name="图形 23" descr="建筑物 纯色填充">
            <a:extLst>
              <a:ext uri="{FF2B5EF4-FFF2-40B4-BE49-F238E27FC236}">
                <a16:creationId xmlns:a16="http://schemas.microsoft.com/office/drawing/2014/main" id="{665E1C12-8366-7C11-7929-65BC17AF3F2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004489" y="5755783"/>
            <a:ext cx="512065" cy="512065"/>
          </a:xfrm>
          <a:prstGeom prst="rect">
            <a:avLst/>
          </a:prstGeom>
        </p:spPr>
      </p:pic>
      <p:pic>
        <p:nvPicPr>
          <p:cNvPr id="26" name="图形 25" descr="门未关闭 纯色填充">
            <a:extLst>
              <a:ext uri="{FF2B5EF4-FFF2-40B4-BE49-F238E27FC236}">
                <a16:creationId xmlns:a16="http://schemas.microsoft.com/office/drawing/2014/main" id="{C255E1FA-E9EB-9B4F-15DE-3B20B45D0C2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504850">
            <a:off x="7711031" y="5817232"/>
            <a:ext cx="711183" cy="711183"/>
          </a:xfrm>
          <a:prstGeom prst="rect">
            <a:avLst/>
          </a:prstGeom>
        </p:spPr>
      </p:pic>
      <p:pic>
        <p:nvPicPr>
          <p:cNvPr id="28" name="图形 27" descr="巴士 纯色填充">
            <a:extLst>
              <a:ext uri="{FF2B5EF4-FFF2-40B4-BE49-F238E27FC236}">
                <a16:creationId xmlns:a16="http://schemas.microsoft.com/office/drawing/2014/main" id="{9E8CE798-BE4F-8DD9-E045-748D0AF7005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rot="456620">
            <a:off x="11214266" y="10795"/>
            <a:ext cx="661320" cy="661320"/>
          </a:xfrm>
          <a:prstGeom prst="rect">
            <a:avLst/>
          </a:prstGeom>
        </p:spPr>
      </p:pic>
      <p:pic>
        <p:nvPicPr>
          <p:cNvPr id="30" name="图形 29" descr="行李 纯色填充">
            <a:extLst>
              <a:ext uri="{FF2B5EF4-FFF2-40B4-BE49-F238E27FC236}">
                <a16:creationId xmlns:a16="http://schemas.microsoft.com/office/drawing/2014/main" id="{4E25CD35-7252-EC98-8C3B-E780380D125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rot="334793">
            <a:off x="7630967" y="1471992"/>
            <a:ext cx="1154259" cy="1154259"/>
          </a:xfrm>
          <a:prstGeom prst="rect">
            <a:avLst/>
          </a:prstGeom>
        </p:spPr>
      </p:pic>
      <p:pic>
        <p:nvPicPr>
          <p:cNvPr id="32" name="图形 31" descr="手提箱 纯色填充">
            <a:extLst>
              <a:ext uri="{FF2B5EF4-FFF2-40B4-BE49-F238E27FC236}">
                <a16:creationId xmlns:a16="http://schemas.microsoft.com/office/drawing/2014/main" id="{ADE1439F-7CC6-EEA2-D762-E6E653ABB6EF}"/>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046516" y="829363"/>
            <a:ext cx="428010" cy="428010"/>
          </a:xfrm>
          <a:prstGeom prst="rect">
            <a:avLst/>
          </a:prstGeom>
        </p:spPr>
      </p:pic>
      <p:sp>
        <p:nvSpPr>
          <p:cNvPr id="33" name="文本框 32">
            <a:extLst>
              <a:ext uri="{FF2B5EF4-FFF2-40B4-BE49-F238E27FC236}">
                <a16:creationId xmlns:a16="http://schemas.microsoft.com/office/drawing/2014/main" id="{5A55802B-946B-CA80-4948-B5392FFBA85B}"/>
              </a:ext>
            </a:extLst>
          </p:cNvPr>
          <p:cNvSpPr txBox="1"/>
          <p:nvPr/>
        </p:nvSpPr>
        <p:spPr>
          <a:xfrm>
            <a:off x="2161657" y="4790520"/>
            <a:ext cx="2331766" cy="1477328"/>
          </a:xfrm>
          <a:prstGeom prst="rect">
            <a:avLst/>
          </a:prstGeom>
          <a:noFill/>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Team 45</a:t>
            </a:r>
          </a:p>
          <a:p>
            <a:pPr algn="ctr"/>
            <a:r>
              <a:rPr lang="en-US" altLang="zh-CN">
                <a:latin typeface="Times New Roman" panose="02020603050405020304" pitchFamily="18" charset="0"/>
                <a:cs typeface="Times New Roman" panose="02020603050405020304" pitchFamily="18" charset="0"/>
              </a:rPr>
              <a:t>Chris Chen</a:t>
            </a:r>
          </a:p>
          <a:p>
            <a:pPr algn="ctr"/>
            <a:r>
              <a:rPr lang="en-US" altLang="zh-CN">
                <a:latin typeface="Times New Roman" panose="02020603050405020304" pitchFamily="18" charset="0"/>
                <a:cs typeface="Times New Roman" panose="02020603050405020304" pitchFamily="18" charset="0"/>
              </a:rPr>
              <a:t>Ziling Chen</a:t>
            </a:r>
          </a:p>
          <a:p>
            <a:pPr algn="ctr"/>
            <a:r>
              <a:rPr lang="en-US" altLang="zh-CN">
                <a:latin typeface="Times New Roman" panose="02020603050405020304" pitchFamily="18" charset="0"/>
                <a:cs typeface="Times New Roman" panose="02020603050405020304" pitchFamily="18" charset="0"/>
              </a:rPr>
              <a:t>Krishna Gupta</a:t>
            </a:r>
          </a:p>
          <a:p>
            <a:pPr algn="ctr"/>
            <a:r>
              <a:rPr lang="en-US" altLang="zh-CN">
                <a:latin typeface="Times New Roman" panose="02020603050405020304" pitchFamily="18" charset="0"/>
                <a:cs typeface="Times New Roman" panose="02020603050405020304" pitchFamily="18" charset="0"/>
              </a:rPr>
              <a:t>Sam MacArthur</a:t>
            </a:r>
            <a:endParaRPr lang="zh-CN" altLang="en-US">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24006F61-E813-FE74-DD82-1BAB761C288A}"/>
              </a:ext>
            </a:extLst>
          </p:cNvPr>
          <p:cNvSpPr txBox="1"/>
          <p:nvPr/>
        </p:nvSpPr>
        <p:spPr>
          <a:xfrm>
            <a:off x="1180292" y="1636673"/>
            <a:ext cx="4291756" cy="1323439"/>
          </a:xfrm>
          <a:prstGeom prst="rect">
            <a:avLst/>
          </a:prstGeom>
          <a:noFill/>
        </p:spPr>
        <p:txBody>
          <a:bodyPr wrap="square" rtlCol="0">
            <a:spAutoFit/>
          </a:bodyPr>
          <a:lstStyle/>
          <a:p>
            <a:pPr algn="ctr"/>
            <a:r>
              <a:rPr lang="en-US" altLang="zh-CN" sz="4000" b="1">
                <a:latin typeface="Times New Roman" panose="02020603050405020304" pitchFamily="18" charset="0"/>
                <a:cs typeface="Times New Roman" panose="02020603050405020304" pitchFamily="18" charset="0"/>
              </a:rPr>
              <a:t>Airbnb</a:t>
            </a:r>
          </a:p>
          <a:p>
            <a:pPr algn="ctr"/>
            <a:r>
              <a:rPr lang="en-US" altLang="zh-CN" sz="4000" b="1">
                <a:latin typeface="Times New Roman" panose="02020603050405020304" pitchFamily="18" charset="0"/>
                <a:cs typeface="Times New Roman" panose="02020603050405020304" pitchFamily="18" charset="0"/>
              </a:rPr>
              <a:t>Case</a:t>
            </a:r>
            <a:r>
              <a:rPr lang="zh-CN" altLang="en-US" sz="4000" b="1">
                <a:latin typeface="Times New Roman" panose="02020603050405020304" pitchFamily="18" charset="0"/>
                <a:cs typeface="Times New Roman" panose="02020603050405020304" pitchFamily="18" charset="0"/>
              </a:rPr>
              <a:t> </a:t>
            </a:r>
            <a:r>
              <a:rPr lang="en-US" altLang="zh-CN" sz="4000" b="1">
                <a:latin typeface="Times New Roman" panose="02020603050405020304" pitchFamily="18" charset="0"/>
                <a:cs typeface="Times New Roman" panose="02020603050405020304" pitchFamily="18" charset="0"/>
              </a:rPr>
              <a:t>Study</a:t>
            </a:r>
          </a:p>
        </p:txBody>
      </p:sp>
    </p:spTree>
    <p:extLst>
      <p:ext uri="{BB962C8B-B14F-4D97-AF65-F5344CB8AC3E}">
        <p14:creationId xmlns:p14="http://schemas.microsoft.com/office/powerpoint/2010/main" val="745780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B6F9E8A-9631-17EC-78DD-4BE9984BD2BE}"/>
              </a:ext>
            </a:extLst>
          </p:cNvPr>
          <p:cNvPicPr>
            <a:picLocks noGrp="1" noRot="1" noChangeAspect="1" noMove="1" noResize="1" noEditPoints="1" noAdjustHandles="1" noChangeArrowheads="1" noChangeShapeType="1" noCrop="1"/>
          </p:cNvPicPr>
          <p:nvPr/>
        </p:nvPicPr>
        <p:blipFill>
          <a:blip r:embed="rId3"/>
          <a:srcRect l="196" t="382" r="214"/>
          <a:stretch>
            <a:fillRect/>
          </a:stretch>
        </p:blipFill>
        <p:spPr>
          <a:xfrm>
            <a:off x="0" y="0"/>
            <a:ext cx="12192000" cy="6858000"/>
          </a:xfrm>
          <a:prstGeom prst="rect">
            <a:avLst/>
          </a:prstGeom>
        </p:spPr>
      </p:pic>
      <p:sp>
        <p:nvSpPr>
          <p:cNvPr id="8" name="矩形: 圆角 7">
            <a:extLst>
              <a:ext uri="{FF2B5EF4-FFF2-40B4-BE49-F238E27FC236}">
                <a16:creationId xmlns:a16="http://schemas.microsoft.com/office/drawing/2014/main" id="{D9651E59-5A98-D29C-812C-B65A8D96CD38}"/>
              </a:ext>
            </a:extLst>
          </p:cNvPr>
          <p:cNvSpPr/>
          <p:nvPr/>
        </p:nvSpPr>
        <p:spPr>
          <a:xfrm>
            <a:off x="609600" y="2193759"/>
            <a:ext cx="5305425" cy="2843153"/>
          </a:xfrm>
          <a:prstGeom prst="roundRect">
            <a:avLst>
              <a:gd name="adj" fmla="val 7971"/>
            </a:avLst>
          </a:prstGeom>
          <a:solidFill>
            <a:schemeClr val="bg1">
              <a:alpha val="52000"/>
            </a:schemeClr>
          </a:solidFill>
          <a:ln>
            <a:solidFill>
              <a:srgbClr val="FF9B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3931D16-52F9-5093-5520-2FD2B39872D6}"/>
              </a:ext>
            </a:extLst>
          </p:cNvPr>
          <p:cNvSpPr txBox="1"/>
          <p:nvPr/>
        </p:nvSpPr>
        <p:spPr>
          <a:xfrm>
            <a:off x="609600" y="457200"/>
            <a:ext cx="5029200"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Business Understanding</a:t>
            </a:r>
            <a:endParaRPr lang="zh-CN" altLang="en-US" sz="3600" b="1">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0A565DDC-21BE-A214-9942-3890CFE45683}"/>
              </a:ext>
            </a:extLst>
          </p:cNvPr>
          <p:cNvSpPr txBox="1"/>
          <p:nvPr/>
        </p:nvSpPr>
        <p:spPr>
          <a:xfrm>
            <a:off x="1366837" y="2313716"/>
            <a:ext cx="3790950" cy="523220"/>
          </a:xfrm>
          <a:prstGeom prst="rect">
            <a:avLst/>
          </a:prstGeom>
          <a:noFill/>
        </p:spPr>
        <p:txBody>
          <a:bodyPr wrap="square" rtlCol="0">
            <a:spAutoFit/>
          </a:bodyPr>
          <a:lstStyle/>
          <a:p>
            <a:pPr algn="ctr"/>
            <a:r>
              <a:rPr lang="en-US" altLang="zh-CN"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Challenges</a:t>
            </a:r>
          </a:p>
        </p:txBody>
      </p:sp>
      <p:sp>
        <p:nvSpPr>
          <p:cNvPr id="9" name="文本框 8">
            <a:extLst>
              <a:ext uri="{FF2B5EF4-FFF2-40B4-BE49-F238E27FC236}">
                <a16:creationId xmlns:a16="http://schemas.microsoft.com/office/drawing/2014/main" id="{3A414007-FED6-55ED-8E33-2957B5C58BCE}"/>
              </a:ext>
            </a:extLst>
          </p:cNvPr>
          <p:cNvSpPr txBox="1"/>
          <p:nvPr/>
        </p:nvSpPr>
        <p:spPr>
          <a:xfrm>
            <a:off x="757235" y="2897953"/>
            <a:ext cx="4995865"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Airbnb faces issues with unreasonable pricing, which undermines platform trust and user experience.</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Excessively high prices lead to fewer bookings and reduced income for hosts.</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Pricing that is too low distorts market signals and prevents hosts from maximizing their earnings.</a:t>
            </a:r>
            <a:endParaRPr lang="zh-CN" altLang="en-US">
              <a:latin typeface="Times New Roman" panose="02020603050405020304" pitchFamily="18" charset="0"/>
              <a:cs typeface="Times New Roman" panose="02020603050405020304" pitchFamily="18" charset="0"/>
            </a:endParaRPr>
          </a:p>
        </p:txBody>
      </p:sp>
      <p:sp>
        <p:nvSpPr>
          <p:cNvPr id="12" name="矩形: 圆角 11">
            <a:extLst>
              <a:ext uri="{FF2B5EF4-FFF2-40B4-BE49-F238E27FC236}">
                <a16:creationId xmlns:a16="http://schemas.microsoft.com/office/drawing/2014/main" id="{0980B2F4-09E9-68E0-CEEB-F24D7976E3EA}"/>
              </a:ext>
            </a:extLst>
          </p:cNvPr>
          <p:cNvSpPr/>
          <p:nvPr/>
        </p:nvSpPr>
        <p:spPr>
          <a:xfrm>
            <a:off x="6276977" y="2205994"/>
            <a:ext cx="5305425" cy="2843154"/>
          </a:xfrm>
          <a:prstGeom prst="roundRect">
            <a:avLst>
              <a:gd name="adj" fmla="val 7971"/>
            </a:avLst>
          </a:prstGeom>
          <a:solidFill>
            <a:schemeClr val="bg1">
              <a:alpha val="52000"/>
            </a:schemeClr>
          </a:solidFill>
          <a:ln>
            <a:solidFill>
              <a:srgbClr val="FF9B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31EFDCA-C98C-3F54-57BF-E90D5D500925}"/>
              </a:ext>
            </a:extLst>
          </p:cNvPr>
          <p:cNvSpPr txBox="1"/>
          <p:nvPr/>
        </p:nvSpPr>
        <p:spPr>
          <a:xfrm>
            <a:off x="7612856" y="2205994"/>
            <a:ext cx="2795588" cy="523220"/>
          </a:xfrm>
          <a:prstGeom prst="rect">
            <a:avLst/>
          </a:prstGeom>
          <a:noFill/>
        </p:spPr>
        <p:txBody>
          <a:bodyPr wrap="square" rtlCol="0">
            <a:spAutoFit/>
          </a:bodyPr>
          <a:lstStyle/>
          <a:p>
            <a:pPr algn="ctr"/>
            <a:r>
              <a:rPr lang="en-US" altLang="zh-CN"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Aim</a:t>
            </a:r>
          </a:p>
        </p:txBody>
      </p:sp>
      <p:sp>
        <p:nvSpPr>
          <p:cNvPr id="14" name="文本框 13">
            <a:extLst>
              <a:ext uri="{FF2B5EF4-FFF2-40B4-BE49-F238E27FC236}">
                <a16:creationId xmlns:a16="http://schemas.microsoft.com/office/drawing/2014/main" id="{9AFE432B-D9D5-4404-46C7-DD271E74B9D9}"/>
              </a:ext>
            </a:extLst>
          </p:cNvPr>
          <p:cNvSpPr txBox="1"/>
          <p:nvPr/>
        </p:nvSpPr>
        <p:spPr>
          <a:xfrm>
            <a:off x="6357939" y="2897953"/>
            <a:ext cx="5143500" cy="17543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ltLang="zh-CN">
                <a:latin typeface="Times New Roman"/>
                <a:ea typeface="等线"/>
                <a:cs typeface="Times New Roman"/>
              </a:rPr>
              <a:t>By analyzing existing data, we can understand the factors that influence pricing, such as location, number of rooms, and ancillary facilities.</a:t>
            </a:r>
          </a:p>
          <a:p>
            <a:pPr marL="285750" indent="-285750">
              <a:buFont typeface="Arial" panose="020B0604020202020204" pitchFamily="34" charset="0"/>
              <a:buChar char="•"/>
            </a:pPr>
            <a:r>
              <a:rPr lang="en-US" altLang="zh-CN">
                <a:latin typeface="Times New Roman"/>
                <a:ea typeface="等线"/>
                <a:cs typeface="Times New Roman"/>
              </a:rPr>
              <a:t>Estimate a fair and competitive price for the hosts using data mining methods and multiple modeling techniques. </a:t>
            </a:r>
          </a:p>
        </p:txBody>
      </p:sp>
      <p:pic>
        <p:nvPicPr>
          <p:cNvPr id="2056" name="Picture 8" descr="一排房子图片_一排房子素材_一排房子高清图片_摄图网图片下载">
            <a:extLst>
              <a:ext uri="{FF2B5EF4-FFF2-40B4-BE49-F238E27FC236}">
                <a16:creationId xmlns:a16="http://schemas.microsoft.com/office/drawing/2014/main" id="{A1ECF41C-D5AF-E0B4-F4F2-E48AF2426E1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000" r="95667">
                        <a14:foregroundMark x1="10667" y1="54000" x2="10667" y2="54000"/>
                        <a14:foregroundMark x1="5000" y1="57667" x2="5000" y2="57667"/>
                        <a14:foregroundMark x1="23667" y1="54000" x2="23667" y2="54000"/>
                        <a14:foregroundMark x1="36667" y1="54000" x2="36667" y2="54000"/>
                        <a14:foregroundMark x1="45333" y1="51667" x2="45333" y2="51667"/>
                        <a14:foregroundMark x1="49000" y1="48667" x2="49000" y2="48667"/>
                        <a14:foregroundMark x1="62000" y1="51667" x2="62000" y2="51667"/>
                        <a14:foregroundMark x1="64000" y1="52000" x2="64000" y2="52000"/>
                        <a14:foregroundMark x1="66667" y1="56333" x2="66667" y2="56333"/>
                        <a14:foregroundMark x1="78667" y1="57000" x2="78667" y2="57000"/>
                        <a14:foregroundMark x1="83333" y1="58667" x2="83333" y2="58667"/>
                        <a14:foregroundMark x1="83333" y1="58667" x2="83333" y2="58667"/>
                        <a14:foregroundMark x1="88333" y1="51333" x2="88333" y2="51333"/>
                        <a14:foregroundMark x1="83333" y1="52333" x2="83333" y2="52333"/>
                        <a14:foregroundMark x1="80333" y1="56667" x2="80333" y2="56667"/>
                        <a14:foregroundMark x1="95667" y1="57333" x2="95667" y2="57333"/>
                        <a14:foregroundMark x1="78333" y1="61333" x2="78333" y2="61333"/>
                        <a14:foregroundMark x1="78000" y1="61000" x2="78000" y2="61000"/>
                        <a14:foregroundMark x1="78333" y1="63000" x2="78333" y2="63000"/>
                        <a14:foregroundMark x1="19000" y1="55667" x2="19000" y2="55667"/>
                      </a14:backgroundRemoval>
                    </a14:imgEffect>
                  </a14:imgLayer>
                </a14:imgProps>
              </a:ext>
              <a:ext uri="{28A0092B-C50C-407E-A947-70E740481C1C}">
                <a14:useLocalDpi xmlns:a14="http://schemas.microsoft.com/office/drawing/2010/main" val="0"/>
              </a:ext>
            </a:extLst>
          </a:blip>
          <a:srcRect l="4500" t="34456" r="2834" b="37211"/>
          <a:stretch>
            <a:fillRect/>
          </a:stretch>
        </p:blipFill>
        <p:spPr bwMode="auto">
          <a:xfrm>
            <a:off x="0" y="6048375"/>
            <a:ext cx="2647950" cy="8096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一排房子图片_一排房子素材_一排房子高清图片_摄图网图片下载">
            <a:extLst>
              <a:ext uri="{FF2B5EF4-FFF2-40B4-BE49-F238E27FC236}">
                <a16:creationId xmlns:a16="http://schemas.microsoft.com/office/drawing/2014/main" id="{D1CB881E-75F7-490C-4441-EF75751B3B6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000" r="95667">
                        <a14:foregroundMark x1="10667" y1="54000" x2="10667" y2="54000"/>
                        <a14:foregroundMark x1="5000" y1="57667" x2="5000" y2="57667"/>
                        <a14:foregroundMark x1="23667" y1="54000" x2="23667" y2="54000"/>
                        <a14:foregroundMark x1="36667" y1="54000" x2="36667" y2="54000"/>
                        <a14:foregroundMark x1="45333" y1="51667" x2="45333" y2="51667"/>
                        <a14:foregroundMark x1="49000" y1="48667" x2="49000" y2="48667"/>
                        <a14:foregroundMark x1="62000" y1="51667" x2="62000" y2="51667"/>
                        <a14:foregroundMark x1="64000" y1="52000" x2="64000" y2="52000"/>
                        <a14:foregroundMark x1="66667" y1="56333" x2="66667" y2="56333"/>
                        <a14:foregroundMark x1="78667" y1="57000" x2="78667" y2="57000"/>
                        <a14:foregroundMark x1="83333" y1="58667" x2="83333" y2="58667"/>
                        <a14:foregroundMark x1="83333" y1="58667" x2="83333" y2="58667"/>
                        <a14:foregroundMark x1="88333" y1="51333" x2="88333" y2="51333"/>
                        <a14:foregroundMark x1="83333" y1="52333" x2="83333" y2="52333"/>
                        <a14:foregroundMark x1="80333" y1="56667" x2="80333" y2="56667"/>
                        <a14:foregroundMark x1="95667" y1="57333" x2="95667" y2="57333"/>
                        <a14:foregroundMark x1="78333" y1="61333" x2="78333" y2="61333"/>
                        <a14:foregroundMark x1="78000" y1="61000" x2="78000" y2="61000"/>
                        <a14:foregroundMark x1="78333" y1="63000" x2="78333" y2="63000"/>
                        <a14:foregroundMark x1="19000" y1="55667" x2="19000" y2="55667"/>
                      </a14:backgroundRemoval>
                    </a14:imgEffect>
                  </a14:imgLayer>
                </a14:imgProps>
              </a:ext>
              <a:ext uri="{28A0092B-C50C-407E-A947-70E740481C1C}">
                <a14:useLocalDpi xmlns:a14="http://schemas.microsoft.com/office/drawing/2010/main" val="0"/>
              </a:ext>
            </a:extLst>
          </a:blip>
          <a:srcRect l="4500" t="34456" r="2834" b="37211"/>
          <a:stretch>
            <a:fillRect/>
          </a:stretch>
        </p:blipFill>
        <p:spPr bwMode="auto">
          <a:xfrm>
            <a:off x="2638425" y="6048375"/>
            <a:ext cx="2647950" cy="80962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一排房子图片_一排房子素材_一排房子高清图片_摄图网图片下载">
            <a:extLst>
              <a:ext uri="{FF2B5EF4-FFF2-40B4-BE49-F238E27FC236}">
                <a16:creationId xmlns:a16="http://schemas.microsoft.com/office/drawing/2014/main" id="{F11B33FE-EB72-09F3-A5BA-6C7F6E9FB97A}"/>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000" r="95667">
                        <a14:foregroundMark x1="10667" y1="54000" x2="10667" y2="54000"/>
                        <a14:foregroundMark x1="5000" y1="57667" x2="5000" y2="57667"/>
                        <a14:foregroundMark x1="23667" y1="54000" x2="23667" y2="54000"/>
                        <a14:foregroundMark x1="36667" y1="54000" x2="36667" y2="54000"/>
                        <a14:foregroundMark x1="45333" y1="51667" x2="45333" y2="51667"/>
                        <a14:foregroundMark x1="49000" y1="48667" x2="49000" y2="48667"/>
                        <a14:foregroundMark x1="62000" y1="51667" x2="62000" y2="51667"/>
                        <a14:foregroundMark x1="64000" y1="52000" x2="64000" y2="52000"/>
                        <a14:foregroundMark x1="66667" y1="56333" x2="66667" y2="56333"/>
                        <a14:foregroundMark x1="78667" y1="57000" x2="78667" y2="57000"/>
                        <a14:foregroundMark x1="83333" y1="58667" x2="83333" y2="58667"/>
                        <a14:foregroundMark x1="83333" y1="58667" x2="83333" y2="58667"/>
                        <a14:foregroundMark x1="88333" y1="51333" x2="88333" y2="51333"/>
                        <a14:foregroundMark x1="83333" y1="52333" x2="83333" y2="52333"/>
                        <a14:foregroundMark x1="80333" y1="56667" x2="80333" y2="56667"/>
                        <a14:foregroundMark x1="95667" y1="57333" x2="95667" y2="57333"/>
                        <a14:foregroundMark x1="78333" y1="61333" x2="78333" y2="61333"/>
                        <a14:foregroundMark x1="78000" y1="61000" x2="78000" y2="61000"/>
                        <a14:foregroundMark x1="78333" y1="63000" x2="78333" y2="63000"/>
                        <a14:foregroundMark x1="19000" y1="55667" x2="19000" y2="55667"/>
                      </a14:backgroundRemoval>
                    </a14:imgEffect>
                  </a14:imgLayer>
                </a14:imgProps>
              </a:ext>
              <a:ext uri="{28A0092B-C50C-407E-A947-70E740481C1C}">
                <a14:useLocalDpi xmlns:a14="http://schemas.microsoft.com/office/drawing/2010/main" val="0"/>
              </a:ext>
            </a:extLst>
          </a:blip>
          <a:srcRect l="4500" t="34456" r="2834" b="37211"/>
          <a:stretch>
            <a:fillRect/>
          </a:stretch>
        </p:blipFill>
        <p:spPr bwMode="auto">
          <a:xfrm>
            <a:off x="5271861" y="6048375"/>
            <a:ext cx="2647950" cy="80962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一排房子图片_一排房子素材_一排房子高清图片_摄图网图片下载">
            <a:extLst>
              <a:ext uri="{FF2B5EF4-FFF2-40B4-BE49-F238E27FC236}">
                <a16:creationId xmlns:a16="http://schemas.microsoft.com/office/drawing/2014/main" id="{1D5A8708-E19B-E23D-7A6F-D0D98CBF6BF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000" r="95667">
                        <a14:foregroundMark x1="10667" y1="54000" x2="10667" y2="54000"/>
                        <a14:foregroundMark x1="5000" y1="57667" x2="5000" y2="57667"/>
                        <a14:foregroundMark x1="23667" y1="54000" x2="23667" y2="54000"/>
                        <a14:foregroundMark x1="36667" y1="54000" x2="36667" y2="54000"/>
                        <a14:foregroundMark x1="45333" y1="51667" x2="45333" y2="51667"/>
                        <a14:foregroundMark x1="49000" y1="48667" x2="49000" y2="48667"/>
                        <a14:foregroundMark x1="62000" y1="51667" x2="62000" y2="51667"/>
                        <a14:foregroundMark x1="64000" y1="52000" x2="64000" y2="52000"/>
                        <a14:foregroundMark x1="66667" y1="56333" x2="66667" y2="56333"/>
                        <a14:foregroundMark x1="78667" y1="57000" x2="78667" y2="57000"/>
                        <a14:foregroundMark x1="83333" y1="58667" x2="83333" y2="58667"/>
                        <a14:foregroundMark x1="83333" y1="58667" x2="83333" y2="58667"/>
                        <a14:foregroundMark x1="88333" y1="51333" x2="88333" y2="51333"/>
                        <a14:foregroundMark x1="83333" y1="52333" x2="83333" y2="52333"/>
                        <a14:foregroundMark x1="80333" y1="56667" x2="80333" y2="56667"/>
                        <a14:foregroundMark x1="95667" y1="57333" x2="95667" y2="57333"/>
                        <a14:foregroundMark x1="78333" y1="61333" x2="78333" y2="61333"/>
                        <a14:foregroundMark x1="78000" y1="61000" x2="78000" y2="61000"/>
                        <a14:foregroundMark x1="78333" y1="63000" x2="78333" y2="63000"/>
                        <a14:foregroundMark x1="19000" y1="55667" x2="19000" y2="55667"/>
                      </a14:backgroundRemoval>
                    </a14:imgEffect>
                  </a14:imgLayer>
                </a14:imgProps>
              </a:ext>
              <a:ext uri="{28A0092B-C50C-407E-A947-70E740481C1C}">
                <a14:useLocalDpi xmlns:a14="http://schemas.microsoft.com/office/drawing/2010/main" val="0"/>
              </a:ext>
            </a:extLst>
          </a:blip>
          <a:srcRect l="4500" t="34456" r="2834" b="37211"/>
          <a:stretch>
            <a:fillRect/>
          </a:stretch>
        </p:blipFill>
        <p:spPr bwMode="auto">
          <a:xfrm>
            <a:off x="7910286" y="6048375"/>
            <a:ext cx="2647950" cy="80962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一排房子图片_一排房子素材_一排房子高清图片_摄图网图片下载">
            <a:extLst>
              <a:ext uri="{FF2B5EF4-FFF2-40B4-BE49-F238E27FC236}">
                <a16:creationId xmlns:a16="http://schemas.microsoft.com/office/drawing/2014/main" id="{59762B17-B528-7790-6D8D-CF65B2065886}"/>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5000" r="95667">
                        <a14:foregroundMark x1="10667" y1="54000" x2="10667" y2="54000"/>
                        <a14:foregroundMark x1="5000" y1="57667" x2="5000" y2="57667"/>
                        <a14:foregroundMark x1="23667" y1="54000" x2="23667" y2="54000"/>
                        <a14:foregroundMark x1="36667" y1="54000" x2="36667" y2="54000"/>
                        <a14:foregroundMark x1="45333" y1="51667" x2="45333" y2="51667"/>
                        <a14:foregroundMark x1="49000" y1="48667" x2="49000" y2="48667"/>
                        <a14:foregroundMark x1="62000" y1="51667" x2="62000" y2="51667"/>
                        <a14:foregroundMark x1="64000" y1="52000" x2="64000" y2="52000"/>
                        <a14:foregroundMark x1="66667" y1="56333" x2="66667" y2="56333"/>
                        <a14:foregroundMark x1="78667" y1="57000" x2="78667" y2="57000"/>
                        <a14:foregroundMark x1="83333" y1="58667" x2="83333" y2="58667"/>
                        <a14:foregroundMark x1="83333" y1="58667" x2="83333" y2="58667"/>
                        <a14:foregroundMark x1="88333" y1="51333" x2="88333" y2="51333"/>
                        <a14:foregroundMark x1="83333" y1="52333" x2="83333" y2="52333"/>
                        <a14:foregroundMark x1="80333" y1="56667" x2="80333" y2="56667"/>
                        <a14:foregroundMark x1="95667" y1="57333" x2="95667" y2="57333"/>
                        <a14:foregroundMark x1="78333" y1="61333" x2="78333" y2="61333"/>
                        <a14:foregroundMark x1="78000" y1="61000" x2="78000" y2="61000"/>
                        <a14:foregroundMark x1="78333" y1="63000" x2="78333" y2="63000"/>
                        <a14:foregroundMark x1="19000" y1="55667" x2="19000" y2="55667"/>
                      </a14:backgroundRemoval>
                    </a14:imgEffect>
                  </a14:imgLayer>
                </a14:imgProps>
              </a:ext>
              <a:ext uri="{28A0092B-C50C-407E-A947-70E740481C1C}">
                <a14:useLocalDpi xmlns:a14="http://schemas.microsoft.com/office/drawing/2010/main" val="0"/>
              </a:ext>
            </a:extLst>
          </a:blip>
          <a:srcRect l="4500" t="34456" r="2834" b="37211"/>
          <a:stretch>
            <a:fillRect/>
          </a:stretch>
        </p:blipFill>
        <p:spPr bwMode="auto">
          <a:xfrm>
            <a:off x="10543722" y="6062889"/>
            <a:ext cx="2647950" cy="80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87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891E0-DF4A-E8FD-3D59-175665549F24}"/>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60DEF68F-BDE1-304F-B213-7994FF1C741D}"/>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00D663F5-23F4-C07B-0C12-0F678E255D40}"/>
              </a:ext>
            </a:extLst>
          </p:cNvPr>
          <p:cNvSpPr txBox="1"/>
          <p:nvPr/>
        </p:nvSpPr>
        <p:spPr>
          <a:xfrm>
            <a:off x="609599" y="457200"/>
            <a:ext cx="9613901"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Research Question Break Down &amp; Solution</a:t>
            </a:r>
            <a:endParaRPr lang="zh-CN" altLang="en-US" sz="3600" b="1">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948CEA0-5C0E-895F-621C-C97938136368}"/>
              </a:ext>
            </a:extLst>
          </p:cNvPr>
          <p:cNvSpPr txBox="1"/>
          <p:nvPr/>
        </p:nvSpPr>
        <p:spPr>
          <a:xfrm>
            <a:off x="420913" y="2811867"/>
            <a:ext cx="3423557" cy="2308324"/>
          </a:xfrm>
          <a:prstGeom prst="rect">
            <a:avLst/>
          </a:prstGeom>
          <a:noFill/>
        </p:spPr>
        <p:txBody>
          <a:bodyPr wrap="square" lIns="91440" tIns="45720" rIns="91440" bIns="45720" rtlCol="0" anchor="t">
            <a:spAutoFit/>
          </a:bodyPr>
          <a:lstStyle/>
          <a:p>
            <a:pPr algn="ctr"/>
            <a:r>
              <a:rPr lang="en-US" altLang="zh-CN" sz="2400" b="1">
                <a:latin typeface="Times New Roman"/>
                <a:ea typeface="等线"/>
                <a:cs typeface="Times New Roman"/>
              </a:rPr>
              <a:t>Research Question</a:t>
            </a:r>
          </a:p>
          <a:p>
            <a:pPr algn="ctr"/>
            <a:r>
              <a:rPr lang="en-US" altLang="zh-CN" sz="2000">
                <a:latin typeface="Times New Roman"/>
                <a:ea typeface="等线"/>
                <a:cs typeface="Times New Roman"/>
              </a:rPr>
              <a:t>How can Airbnb evaluate factors such as location, room type, and amenities to determine appropriate and competitive prices for properties?</a:t>
            </a:r>
          </a:p>
        </p:txBody>
      </p:sp>
      <p:cxnSp>
        <p:nvCxnSpPr>
          <p:cNvPr id="19" name="直接连接符 18">
            <a:extLst>
              <a:ext uri="{FF2B5EF4-FFF2-40B4-BE49-F238E27FC236}">
                <a16:creationId xmlns:a16="http://schemas.microsoft.com/office/drawing/2014/main" id="{60CE6F09-7761-8FA1-2EE2-869B2DD424E3}"/>
              </a:ext>
            </a:extLst>
          </p:cNvPr>
          <p:cNvCxnSpPr>
            <a:cxnSpLocks/>
          </p:cNvCxnSpPr>
          <p:nvPr/>
        </p:nvCxnSpPr>
        <p:spPr>
          <a:xfrm flipV="1">
            <a:off x="2048326" y="2008691"/>
            <a:ext cx="0" cy="702079"/>
          </a:xfrm>
          <a:prstGeom prst="line">
            <a:avLst/>
          </a:prstGeom>
          <a:ln w="38100">
            <a:solidFill>
              <a:srgbClr val="FF9BA0"/>
            </a:solidFill>
          </a:ln>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59F2797A-4992-D892-F973-6D7A4562A3AB}"/>
              </a:ext>
            </a:extLst>
          </p:cNvPr>
          <p:cNvCxnSpPr>
            <a:cxnSpLocks/>
          </p:cNvCxnSpPr>
          <p:nvPr/>
        </p:nvCxnSpPr>
        <p:spPr>
          <a:xfrm flipV="1">
            <a:off x="2034267" y="5145591"/>
            <a:ext cx="0" cy="690059"/>
          </a:xfrm>
          <a:prstGeom prst="line">
            <a:avLst/>
          </a:prstGeom>
          <a:ln w="38100">
            <a:solidFill>
              <a:srgbClr val="FF9BA0"/>
            </a:solidFill>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C4EE732A-FD12-FAB9-3B63-6B4D6AD5CB16}"/>
              </a:ext>
            </a:extLst>
          </p:cNvPr>
          <p:cNvCxnSpPr/>
          <p:nvPr/>
        </p:nvCxnSpPr>
        <p:spPr>
          <a:xfrm>
            <a:off x="2027917" y="2004432"/>
            <a:ext cx="1977574" cy="0"/>
          </a:xfrm>
          <a:prstGeom prst="straightConnector1">
            <a:avLst/>
          </a:prstGeom>
          <a:ln w="38100">
            <a:solidFill>
              <a:srgbClr val="FF9BA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直接箭头连接符 27">
            <a:extLst>
              <a:ext uri="{FF2B5EF4-FFF2-40B4-BE49-F238E27FC236}">
                <a16:creationId xmlns:a16="http://schemas.microsoft.com/office/drawing/2014/main" id="{6FDA92FC-9612-701A-86B0-A80A7F49D725}"/>
              </a:ext>
            </a:extLst>
          </p:cNvPr>
          <p:cNvCxnSpPr/>
          <p:nvPr/>
        </p:nvCxnSpPr>
        <p:spPr>
          <a:xfrm>
            <a:off x="2018392" y="5823957"/>
            <a:ext cx="1977574" cy="0"/>
          </a:xfrm>
          <a:prstGeom prst="straightConnector1">
            <a:avLst/>
          </a:prstGeom>
          <a:ln w="38100">
            <a:solidFill>
              <a:srgbClr val="FF9BA0"/>
            </a:solidFill>
            <a:tailEnd type="triangle"/>
          </a:ln>
        </p:spPr>
        <p:style>
          <a:lnRef idx="2">
            <a:schemeClr val="accent1"/>
          </a:lnRef>
          <a:fillRef idx="0">
            <a:schemeClr val="accent1"/>
          </a:fillRef>
          <a:effectRef idx="1">
            <a:schemeClr val="accent1"/>
          </a:effectRef>
          <a:fontRef idx="minor">
            <a:schemeClr val="tx1"/>
          </a:fontRef>
        </p:style>
      </p:cxnSp>
      <p:sp>
        <p:nvSpPr>
          <p:cNvPr id="29" name="文本框 28">
            <a:extLst>
              <a:ext uri="{FF2B5EF4-FFF2-40B4-BE49-F238E27FC236}">
                <a16:creationId xmlns:a16="http://schemas.microsoft.com/office/drawing/2014/main" id="{06B18366-4CCF-0E38-3A7F-98D01B291F88}"/>
              </a:ext>
            </a:extLst>
          </p:cNvPr>
          <p:cNvSpPr txBox="1"/>
          <p:nvPr/>
        </p:nvSpPr>
        <p:spPr>
          <a:xfrm>
            <a:off x="4329111" y="1457474"/>
            <a:ext cx="6553175" cy="400110"/>
          </a:xfrm>
          <a:prstGeom prst="rect">
            <a:avLst/>
          </a:prstGeom>
          <a:noFill/>
        </p:spPr>
        <p:txBody>
          <a:bodyPr wrap="square" lIns="91440" tIns="45720" rIns="91440" bIns="45720" rtlCol="0" anchor="t">
            <a:spAutoFit/>
          </a:bodyPr>
          <a:lstStyle/>
          <a:p>
            <a:r>
              <a:rPr lang="en-US" altLang="zh-CN" sz="2000">
                <a:effectLst>
                  <a:outerShdw blurRad="38100" dist="38100" dir="2700000" algn="tl">
                    <a:srgbClr val="000000">
                      <a:alpha val="43137"/>
                    </a:srgbClr>
                  </a:outerShdw>
                </a:effectLst>
                <a:latin typeface="Times New Roman"/>
                <a:ea typeface="等线"/>
                <a:cs typeface="Times New Roman"/>
              </a:rPr>
              <a:t>How do we determine which factors influence Airbnb pricing?</a:t>
            </a:r>
            <a:endParaRPr lang="zh-CN" altLang="en-US" sz="2000">
              <a:effectLst>
                <a:outerShdw blurRad="38100" dist="38100" dir="2700000" algn="tl">
                  <a:srgbClr val="000000">
                    <a:alpha val="43137"/>
                  </a:srgbClr>
                </a:outerShdw>
              </a:effectLst>
              <a:latin typeface="Times New Roman"/>
              <a:ea typeface="等线"/>
              <a:cs typeface="Times New Roman"/>
            </a:endParaRPr>
          </a:p>
        </p:txBody>
      </p:sp>
      <p:sp>
        <p:nvSpPr>
          <p:cNvPr id="30" name="文本框 29">
            <a:extLst>
              <a:ext uri="{FF2B5EF4-FFF2-40B4-BE49-F238E27FC236}">
                <a16:creationId xmlns:a16="http://schemas.microsoft.com/office/drawing/2014/main" id="{5A40841B-AB2C-5B77-4767-64881B6E3AF7}"/>
              </a:ext>
            </a:extLst>
          </p:cNvPr>
          <p:cNvSpPr txBox="1"/>
          <p:nvPr/>
        </p:nvSpPr>
        <p:spPr>
          <a:xfrm>
            <a:off x="4329111" y="4263944"/>
            <a:ext cx="4327335" cy="400110"/>
          </a:xfrm>
          <a:prstGeom prst="rect">
            <a:avLst/>
          </a:prstGeom>
          <a:noFill/>
        </p:spPr>
        <p:txBody>
          <a:bodyPr wrap="square" rtlCol="0">
            <a:spAutoFit/>
          </a:bodyPr>
          <a:lstStyle/>
          <a:p>
            <a:r>
              <a:rPr lang="en-US" altLang="zh-CN"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How to predict a reasonable price?</a:t>
            </a:r>
            <a:endParaRPr lang="zh-CN" alt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5D94CE5A-2EAB-ABA8-AF26-7265B2105C75}"/>
              </a:ext>
            </a:extLst>
          </p:cNvPr>
          <p:cNvSpPr txBox="1"/>
          <p:nvPr/>
        </p:nvSpPr>
        <p:spPr>
          <a:xfrm>
            <a:off x="4329111" y="1853979"/>
            <a:ext cx="7446965"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Linear regression model: incorporating all numerical features and encoded categorical features to develop an initial cognitive framework of price-influencing factors</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Lasso: automatically identify truly significant variables through feature selection, eliminating irrelevant items. </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Linear Regression with Interaction: explore synergistic effects between different variables.</a:t>
            </a:r>
            <a:endParaRPr lang="zh-CN" altLang="en-US">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70ED3645-E814-8EDA-9070-7FAA0F4FACF0}"/>
              </a:ext>
            </a:extLst>
          </p:cNvPr>
          <p:cNvSpPr txBox="1"/>
          <p:nvPr/>
        </p:nvSpPr>
        <p:spPr>
          <a:xfrm>
            <a:off x="4329111" y="4664054"/>
            <a:ext cx="7446965" cy="17543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ltLang="zh-CN">
                <a:latin typeface="Times New Roman"/>
                <a:ea typeface="等线"/>
                <a:cs typeface="Times New Roman"/>
              </a:rPr>
              <a:t>Utilize the model obtained from the first question to provide an expected price for each property listing.</a:t>
            </a:r>
          </a:p>
          <a:p>
            <a:pPr marL="285750" indent="-285750">
              <a:buFont typeface="Arial" panose="020B0604020202020204" pitchFamily="34" charset="0"/>
              <a:buChar char="•"/>
            </a:pPr>
            <a:r>
              <a:rPr lang="en-US" altLang="zh-CN">
                <a:latin typeface="Times New Roman"/>
                <a:ea typeface="等线"/>
                <a:cs typeface="Times New Roman"/>
              </a:rPr>
              <a:t>Calculate the gap between the expected price and the actual price.</a:t>
            </a:r>
          </a:p>
          <a:p>
            <a:pPr marL="285750" indent="-285750">
              <a:buFont typeface="Arial" panose="020B0604020202020204" pitchFamily="34" charset="0"/>
              <a:buChar char="•"/>
            </a:pPr>
            <a:r>
              <a:rPr lang="en-US" altLang="zh-CN">
                <a:latin typeface="Times New Roman"/>
                <a:ea typeface="等线"/>
                <a:cs typeface="Times New Roman"/>
              </a:rPr>
              <a:t>Categorize these listings and offer pricing recommendations to hosts.</a:t>
            </a:r>
          </a:p>
          <a:p>
            <a:pPr marL="285750" indent="-285750">
              <a:buFont typeface="Arial" panose="020B0604020202020204" pitchFamily="34" charset="0"/>
              <a:buChar char="•"/>
            </a:pPr>
            <a:r>
              <a:rPr lang="en-US" altLang="zh-CN">
                <a:latin typeface="Times New Roman"/>
                <a:ea typeface="等线"/>
                <a:cs typeface="Times New Roman"/>
              </a:rPr>
              <a:t>Random Forest: Enhances the prediction accuracy of the model and captures aspects overlooked by linear models.</a:t>
            </a:r>
            <a:endParaRPr lang="zh-CN" altLang="en-US">
              <a:latin typeface="Times New Roman"/>
              <a:ea typeface="等线"/>
              <a:cs typeface="Times New Roman"/>
            </a:endParaRPr>
          </a:p>
        </p:txBody>
      </p:sp>
    </p:spTree>
    <p:extLst>
      <p:ext uri="{BB962C8B-B14F-4D97-AF65-F5344CB8AC3E}">
        <p14:creationId xmlns:p14="http://schemas.microsoft.com/office/powerpoint/2010/main" val="2834172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E7D5F-4C07-5C5E-B2D4-11268CB525B8}"/>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2A73033-8574-B970-65D8-2D9B37F1CF99}"/>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5FCDA57E-6924-7FFD-E494-CD87A383B232}"/>
              </a:ext>
            </a:extLst>
          </p:cNvPr>
          <p:cNvSpPr txBox="1"/>
          <p:nvPr/>
        </p:nvSpPr>
        <p:spPr>
          <a:xfrm>
            <a:off x="613568" y="660690"/>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Data Understanding</a:t>
            </a:r>
            <a:endParaRPr lang="zh-CN" altLang="en-US" sz="3600" b="1">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90F4D9E0-277E-56ED-2684-D4A5B73BEE35}"/>
              </a:ext>
            </a:extLst>
          </p:cNvPr>
          <p:cNvSpPr txBox="1"/>
          <p:nvPr/>
        </p:nvSpPr>
        <p:spPr>
          <a:xfrm>
            <a:off x="613568" y="1751351"/>
            <a:ext cx="10841832" cy="1323439"/>
          </a:xfrm>
          <a:prstGeom prst="rect">
            <a:avLst/>
          </a:prstGeom>
          <a:noFill/>
        </p:spPr>
        <p:txBody>
          <a:bodyPr wrap="square" lIns="91440" tIns="45720" rIns="91440" bIns="45720" rtlCol="0" anchor="t">
            <a:spAutoFit/>
          </a:bodyPr>
          <a:lstStyle/>
          <a:p>
            <a:r>
              <a:rPr lang="en-US" altLang="zh-CN" sz="2000" b="1">
                <a:latin typeface="Times New Roman"/>
                <a:ea typeface="等线"/>
                <a:cs typeface="Times New Roman"/>
              </a:rPr>
              <a:t>Data volume:</a:t>
            </a:r>
            <a:r>
              <a:rPr lang="en-US" altLang="zh-CN" sz="2000">
                <a:latin typeface="Times New Roman"/>
                <a:ea typeface="等线"/>
                <a:cs typeface="Times New Roman"/>
              </a:rPr>
              <a:t> 73,773</a:t>
            </a:r>
          </a:p>
          <a:p>
            <a:r>
              <a:rPr lang="en-US" altLang="zh-CN" sz="2000" b="1">
                <a:latin typeface="Times New Roman"/>
                <a:ea typeface="等线"/>
                <a:cs typeface="Times New Roman"/>
              </a:rPr>
              <a:t>Dimensions:</a:t>
            </a:r>
            <a:r>
              <a:rPr lang="en-US" altLang="zh-CN" sz="2000">
                <a:latin typeface="Times New Roman"/>
                <a:ea typeface="等线"/>
                <a:cs typeface="Times New Roman"/>
              </a:rPr>
              <a:t> 29 variables, including numerical variables such as various room counts and maximum occupancy, categorical variables like housing type and city, as well as plain text information such as names and descriptions</a:t>
            </a:r>
            <a:endParaRPr lang="zh-CN" altLang="en-US" sz="2000">
              <a:latin typeface="Times New Roman"/>
              <a:ea typeface="等线"/>
              <a:cs typeface="Times New Roman"/>
            </a:endParaRPr>
          </a:p>
        </p:txBody>
      </p:sp>
      <p:grpSp>
        <p:nvGrpSpPr>
          <p:cNvPr id="7" name="组合 6">
            <a:extLst>
              <a:ext uri="{FF2B5EF4-FFF2-40B4-BE49-F238E27FC236}">
                <a16:creationId xmlns:a16="http://schemas.microsoft.com/office/drawing/2014/main" id="{9B3668B2-FD47-66FF-3DC1-71994D42DC9C}"/>
              </a:ext>
            </a:extLst>
          </p:cNvPr>
          <p:cNvGrpSpPr/>
          <p:nvPr/>
        </p:nvGrpSpPr>
        <p:grpSpPr>
          <a:xfrm>
            <a:off x="613568" y="3226019"/>
            <a:ext cx="7895722" cy="3327403"/>
            <a:chOff x="0" y="3428999"/>
            <a:chExt cx="6096000" cy="2568967"/>
          </a:xfrm>
        </p:grpSpPr>
        <p:pic>
          <p:nvPicPr>
            <p:cNvPr id="2" name="图片 1">
              <a:extLst>
                <a:ext uri="{FF2B5EF4-FFF2-40B4-BE49-F238E27FC236}">
                  <a16:creationId xmlns:a16="http://schemas.microsoft.com/office/drawing/2014/main" id="{826A7FC0-ACA5-7470-AC4C-AB14C7768F34}"/>
                </a:ext>
              </a:extLst>
            </p:cNvPr>
            <p:cNvPicPr>
              <a:picLocks noChangeAspect="1"/>
            </p:cNvPicPr>
            <p:nvPr/>
          </p:nvPicPr>
          <p:blipFill>
            <a:blip r:embed="rId4"/>
            <a:srcRect l="50000"/>
            <a:stretch>
              <a:fillRect/>
            </a:stretch>
          </p:blipFill>
          <p:spPr>
            <a:xfrm>
              <a:off x="0" y="4890587"/>
              <a:ext cx="6096000" cy="1107379"/>
            </a:xfrm>
            <a:prstGeom prst="rect">
              <a:avLst/>
            </a:prstGeom>
          </p:spPr>
        </p:pic>
        <p:pic>
          <p:nvPicPr>
            <p:cNvPr id="5" name="图片 4">
              <a:extLst>
                <a:ext uri="{FF2B5EF4-FFF2-40B4-BE49-F238E27FC236}">
                  <a16:creationId xmlns:a16="http://schemas.microsoft.com/office/drawing/2014/main" id="{DDC148C0-536B-35EE-C377-976F7DC00AD8}"/>
                </a:ext>
              </a:extLst>
            </p:cNvPr>
            <p:cNvPicPr>
              <a:picLocks noChangeAspect="1"/>
            </p:cNvPicPr>
            <p:nvPr/>
          </p:nvPicPr>
          <p:blipFill>
            <a:blip r:embed="rId4"/>
            <a:srcRect r="50000"/>
            <a:stretch>
              <a:fillRect/>
            </a:stretch>
          </p:blipFill>
          <p:spPr>
            <a:xfrm>
              <a:off x="0" y="3428999"/>
              <a:ext cx="6096000" cy="1107379"/>
            </a:xfrm>
            <a:prstGeom prst="rect">
              <a:avLst/>
            </a:prstGeom>
          </p:spPr>
        </p:pic>
      </p:grpSp>
      <p:sp>
        <p:nvSpPr>
          <p:cNvPr id="8" name="文本框 7">
            <a:extLst>
              <a:ext uri="{FF2B5EF4-FFF2-40B4-BE49-F238E27FC236}">
                <a16:creationId xmlns:a16="http://schemas.microsoft.com/office/drawing/2014/main" id="{1704247E-4DC1-F806-038F-EF65BCE769D0}"/>
              </a:ext>
            </a:extLst>
          </p:cNvPr>
          <p:cNvSpPr txBox="1"/>
          <p:nvPr/>
        </p:nvSpPr>
        <p:spPr>
          <a:xfrm>
            <a:off x="8761161" y="5466935"/>
            <a:ext cx="3430839" cy="738664"/>
          </a:xfrm>
          <a:prstGeom prst="rect">
            <a:avLst/>
          </a:prstGeom>
          <a:noFill/>
        </p:spPr>
        <p:txBody>
          <a:bodyPr wrap="square" rtlCol="0">
            <a:spAutoFit/>
          </a:bodyPr>
          <a:lstStyle/>
          <a:p>
            <a:r>
              <a:rPr lang="en-US" altLang="zh-CN" sz="1400"/>
              <a:t>(Due to the large number of dimensions, they cannot be displayed on a single line here and have been split into two lines.)</a:t>
            </a:r>
            <a:endParaRPr lang="zh-CN" altLang="en-US" sz="1400"/>
          </a:p>
        </p:txBody>
      </p:sp>
    </p:spTree>
    <p:extLst>
      <p:ext uri="{BB962C8B-B14F-4D97-AF65-F5344CB8AC3E}">
        <p14:creationId xmlns:p14="http://schemas.microsoft.com/office/powerpoint/2010/main" val="3265324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A30B4-C694-13F4-FA65-E929279647A2}"/>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69AA30AB-7AFC-7C6E-B6D1-5F4EBAB60FB9}"/>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16663F1F-417C-FA95-6EDB-453171C0320C}"/>
              </a:ext>
            </a:extLst>
          </p:cNvPr>
          <p:cNvSpPr txBox="1"/>
          <p:nvPr/>
        </p:nvSpPr>
        <p:spPr>
          <a:xfrm>
            <a:off x="613568" y="660690"/>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Data Understanding</a:t>
            </a:r>
            <a:endParaRPr lang="zh-CN" altLang="en-US" sz="3600" b="1">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4B92D43-95E3-62DB-2856-43B0735EDB8D}"/>
              </a:ext>
            </a:extLst>
          </p:cNvPr>
          <p:cNvPicPr>
            <a:picLocks noChangeAspect="1"/>
          </p:cNvPicPr>
          <p:nvPr/>
        </p:nvPicPr>
        <p:blipFill>
          <a:blip r:embed="rId4"/>
          <a:srcRect r="50000"/>
          <a:stretch>
            <a:fillRect/>
          </a:stretch>
        </p:blipFill>
        <p:spPr>
          <a:xfrm>
            <a:off x="613568" y="2794109"/>
            <a:ext cx="9646669" cy="1752381"/>
          </a:xfrm>
          <a:prstGeom prst="rect">
            <a:avLst/>
          </a:prstGeom>
        </p:spPr>
      </p:pic>
      <p:pic>
        <p:nvPicPr>
          <p:cNvPr id="10" name="图片 9">
            <a:extLst>
              <a:ext uri="{FF2B5EF4-FFF2-40B4-BE49-F238E27FC236}">
                <a16:creationId xmlns:a16="http://schemas.microsoft.com/office/drawing/2014/main" id="{75CAEB6B-3C5E-5BA7-2E7F-A993D91EE333}"/>
              </a:ext>
            </a:extLst>
          </p:cNvPr>
          <p:cNvPicPr>
            <a:picLocks noChangeAspect="1"/>
          </p:cNvPicPr>
          <p:nvPr/>
        </p:nvPicPr>
        <p:blipFill>
          <a:blip r:embed="rId5"/>
          <a:stretch>
            <a:fillRect/>
          </a:stretch>
        </p:blipFill>
        <p:spPr>
          <a:xfrm>
            <a:off x="613568" y="4524347"/>
            <a:ext cx="10933333" cy="1980952"/>
          </a:xfrm>
          <a:prstGeom prst="rect">
            <a:avLst/>
          </a:prstGeom>
        </p:spPr>
      </p:pic>
      <p:sp>
        <p:nvSpPr>
          <p:cNvPr id="11" name="矩形 10">
            <a:extLst>
              <a:ext uri="{FF2B5EF4-FFF2-40B4-BE49-F238E27FC236}">
                <a16:creationId xmlns:a16="http://schemas.microsoft.com/office/drawing/2014/main" id="{FD2C1383-FC9E-8542-C8DF-8313243A7514}"/>
              </a:ext>
            </a:extLst>
          </p:cNvPr>
          <p:cNvSpPr/>
          <p:nvPr/>
        </p:nvSpPr>
        <p:spPr>
          <a:xfrm>
            <a:off x="3676650" y="2794109"/>
            <a:ext cx="698500" cy="1761228"/>
          </a:xfrm>
          <a:prstGeom prst="rect">
            <a:avLst/>
          </a:prstGeom>
          <a:noFill/>
          <a:ln>
            <a:solidFill>
              <a:srgbClr val="FF5A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83E19F1B-D263-7883-5652-29B0AAE7FE98}"/>
              </a:ext>
            </a:extLst>
          </p:cNvPr>
          <p:cNvCxnSpPr>
            <a:cxnSpLocks/>
            <a:stCxn id="11" idx="2"/>
          </p:cNvCxnSpPr>
          <p:nvPr/>
        </p:nvCxnSpPr>
        <p:spPr>
          <a:xfrm>
            <a:off x="4025900" y="4555337"/>
            <a:ext cx="0" cy="232563"/>
          </a:xfrm>
          <a:prstGeom prst="straightConnector1">
            <a:avLst/>
          </a:prstGeom>
          <a:ln w="28575">
            <a:solidFill>
              <a:srgbClr val="FF5A60"/>
            </a:solidFill>
            <a:tailEnd type="triangle"/>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50BCEBAB-329A-6B22-7F02-EEFC22B17F2B}"/>
              </a:ext>
            </a:extLst>
          </p:cNvPr>
          <p:cNvSpPr txBox="1"/>
          <p:nvPr/>
        </p:nvSpPr>
        <p:spPr>
          <a:xfrm>
            <a:off x="613568" y="1343177"/>
            <a:ext cx="10765632" cy="923330"/>
          </a:xfrm>
          <a:prstGeom prst="rect">
            <a:avLst/>
          </a:prstGeom>
          <a:noFill/>
        </p:spPr>
        <p:txBody>
          <a:bodyPr wrap="square" lIns="91440" tIns="45720" rIns="91440" bIns="45720" rtlCol="0" anchor="t">
            <a:spAutoFit/>
          </a:bodyPr>
          <a:lstStyle/>
          <a:p>
            <a:r>
              <a:rPr lang="en-US" altLang="zh-CN">
                <a:latin typeface="Times New Roman"/>
                <a:ea typeface="等线"/>
                <a:cs typeface="Times New Roman"/>
              </a:rPr>
              <a:t>It is worth noting that the “amenities” field contains a wide range of information related to housing facilities (i.e., the availability of TV or wireless internet). However, all this data is stored as a single string within the same column. The processing of this data will be covered in detail in the ‘Data Cleaning’ section.</a:t>
            </a:r>
            <a:endParaRPr lang="zh-CN" altLang="en-US">
              <a:latin typeface="Times New Roman"/>
              <a:ea typeface="等线"/>
              <a:cs typeface="Times New Roman"/>
            </a:endParaRPr>
          </a:p>
        </p:txBody>
      </p:sp>
    </p:spTree>
    <p:extLst>
      <p:ext uri="{BB962C8B-B14F-4D97-AF65-F5344CB8AC3E}">
        <p14:creationId xmlns:p14="http://schemas.microsoft.com/office/powerpoint/2010/main" val="3364793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65E3F-3980-EE04-FD5A-EF263231F10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B8D9126-F044-B49D-A8CC-45F4BFBA2454}"/>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F281F579-1895-8B53-CDDA-BF60436404A5}"/>
              </a:ext>
            </a:extLst>
          </p:cNvPr>
          <p:cNvSpPr txBox="1"/>
          <p:nvPr/>
        </p:nvSpPr>
        <p:spPr>
          <a:xfrm>
            <a:off x="613568" y="660690"/>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Data Cleaning</a:t>
            </a:r>
            <a:endParaRPr lang="zh-CN" altLang="en-US" sz="3600" b="1">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48324E05-EDD8-10AD-DC31-487C17AA93A2}"/>
              </a:ext>
            </a:extLst>
          </p:cNvPr>
          <p:cNvSpPr txBox="1"/>
          <p:nvPr/>
        </p:nvSpPr>
        <p:spPr>
          <a:xfrm>
            <a:off x="613568" y="1307021"/>
            <a:ext cx="11012375" cy="4437625"/>
          </a:xfrm>
          <a:prstGeom prst="rect">
            <a:avLst/>
          </a:prstGeom>
          <a:noFill/>
        </p:spPr>
        <p:txBody>
          <a:bodyPr wrap="square" lIns="91440" tIns="45720" rIns="91440" bIns="45720" rtlCol="0" anchor="t">
            <a:spAutoFit/>
          </a:bodyPr>
          <a:lstStyle/>
          <a:p>
            <a:pPr>
              <a:lnSpc>
                <a:spcPct val="110000"/>
              </a:lnSpc>
            </a:pPr>
            <a:r>
              <a:rPr lang="en-US" altLang="zh-CN" sz="2000">
                <a:latin typeface="Times New Roman"/>
                <a:ea typeface="等线"/>
                <a:cs typeface="Times New Roman"/>
              </a:rPr>
              <a:t>9 categorical variables, 5 string variables, and 15 numerical variables</a:t>
            </a:r>
          </a:p>
          <a:p>
            <a:pPr>
              <a:lnSpc>
                <a:spcPct val="110000"/>
              </a:lnSpc>
            </a:pPr>
            <a:endParaRPr lang="en-US" altLang="zh-CN" sz="2000">
              <a:latin typeface="Times New Roman"/>
              <a:ea typeface="等线"/>
              <a:cs typeface="Times New Roman"/>
            </a:endParaRPr>
          </a:p>
          <a:p>
            <a:pPr>
              <a:lnSpc>
                <a:spcPct val="110000"/>
              </a:lnSpc>
            </a:pPr>
            <a:r>
              <a:rPr lang="en-US" altLang="zh-CN" sz="2000">
                <a:latin typeface="Times New Roman"/>
                <a:ea typeface="等线"/>
                <a:cs typeface="Times New Roman"/>
              </a:rPr>
              <a:t>The following processing steps were performed:</a:t>
            </a:r>
            <a:endParaRPr lang="en-US"/>
          </a:p>
          <a:p>
            <a:pPr marL="457200" indent="-457200">
              <a:lnSpc>
                <a:spcPct val="110000"/>
              </a:lnSpc>
              <a:buFont typeface="+mj-lt"/>
              <a:buAutoNum type="arabicPeriod"/>
            </a:pPr>
            <a:r>
              <a:rPr lang="en-US" altLang="zh-CN" b="1">
                <a:latin typeface="Times New Roman"/>
                <a:ea typeface="等线"/>
                <a:cs typeface="Times New Roman"/>
              </a:rPr>
              <a:t>Remove unnecessary columns:</a:t>
            </a:r>
            <a:r>
              <a:rPr lang="en-US" altLang="zh-CN">
                <a:latin typeface="Times New Roman"/>
                <a:ea typeface="等线"/>
                <a:cs typeface="Times New Roman"/>
              </a:rPr>
              <a:t> description, </a:t>
            </a:r>
            <a:r>
              <a:rPr lang="en-US" altLang="zh-CN" err="1">
                <a:latin typeface="Times New Roman"/>
                <a:ea typeface="等线"/>
                <a:cs typeface="Times New Roman"/>
              </a:rPr>
              <a:t>bed_type</a:t>
            </a:r>
            <a:r>
              <a:rPr lang="en-US" altLang="zh-CN">
                <a:latin typeface="Times New Roman"/>
                <a:ea typeface="等线"/>
                <a:cs typeface="Times New Roman"/>
              </a:rPr>
              <a:t> (since 98% of the dataset consists of real beds), </a:t>
            </a:r>
            <a:r>
              <a:rPr lang="en-US" altLang="zh-CN" err="1">
                <a:latin typeface="Times New Roman"/>
                <a:ea typeface="等线"/>
                <a:cs typeface="Times New Roman"/>
              </a:rPr>
              <a:t>host_has_profile_pic</a:t>
            </a:r>
            <a:r>
              <a:rPr lang="en-US" altLang="zh-CN">
                <a:latin typeface="Times New Roman"/>
                <a:ea typeface="等线"/>
                <a:cs typeface="Times New Roman"/>
              </a:rPr>
              <a:t>, name, </a:t>
            </a:r>
            <a:r>
              <a:rPr lang="en-US" altLang="zh-CN" err="1">
                <a:latin typeface="Times New Roman"/>
                <a:ea typeface="等线"/>
                <a:cs typeface="Times New Roman"/>
              </a:rPr>
              <a:t>neighbourhood</a:t>
            </a:r>
            <a:r>
              <a:rPr lang="en-US" altLang="zh-CN">
                <a:latin typeface="Times New Roman"/>
                <a:ea typeface="等线"/>
                <a:cs typeface="Times New Roman"/>
              </a:rPr>
              <a:t>, </a:t>
            </a:r>
            <a:r>
              <a:rPr lang="en-US" altLang="zh-CN" err="1">
                <a:latin typeface="Times New Roman"/>
                <a:ea typeface="等线"/>
                <a:cs typeface="Times New Roman"/>
              </a:rPr>
              <a:t>thumbnail_url</a:t>
            </a:r>
            <a:r>
              <a:rPr lang="en-US" altLang="zh-CN">
                <a:latin typeface="Times New Roman"/>
                <a:ea typeface="等线"/>
                <a:cs typeface="Times New Roman"/>
              </a:rPr>
              <a:t>.</a:t>
            </a:r>
          </a:p>
          <a:p>
            <a:pPr marL="457200" indent="-457200">
              <a:lnSpc>
                <a:spcPct val="110000"/>
              </a:lnSpc>
              <a:buFont typeface="+mj-lt"/>
              <a:buAutoNum type="arabicPeriod"/>
            </a:pPr>
            <a:r>
              <a:rPr lang="en-US" altLang="zh-CN" b="1" err="1">
                <a:latin typeface="Times New Roman"/>
                <a:ea typeface="等线"/>
                <a:cs typeface="Times New Roman"/>
              </a:rPr>
              <a:t>property_type</a:t>
            </a:r>
            <a:r>
              <a:rPr lang="en-US" altLang="zh-CN" b="1">
                <a:latin typeface="Times New Roman"/>
                <a:ea typeface="等线"/>
                <a:cs typeface="Times New Roman"/>
              </a:rPr>
              <a:t>:</a:t>
            </a:r>
            <a:r>
              <a:rPr lang="en-US" altLang="zh-CN">
                <a:latin typeface="Times New Roman"/>
                <a:ea typeface="等线"/>
                <a:cs typeface="Times New Roman"/>
              </a:rPr>
              <a:t> Since apartments and houses are particularly numerous (approximately 66% apartments and 22% houses), all other </a:t>
            </a:r>
            <a:r>
              <a:rPr lang="en-US" altLang="zh-CN" err="1">
                <a:latin typeface="Times New Roman"/>
                <a:ea typeface="等线"/>
                <a:cs typeface="Times New Roman"/>
              </a:rPr>
              <a:t>property_types</a:t>
            </a:r>
            <a:r>
              <a:rPr lang="en-US" altLang="zh-CN">
                <a:latin typeface="Times New Roman"/>
                <a:ea typeface="等线"/>
                <a:cs typeface="Times New Roman"/>
              </a:rPr>
              <a:t> were categorized as “other.”</a:t>
            </a:r>
          </a:p>
          <a:p>
            <a:pPr marL="457200" indent="-457200">
              <a:lnSpc>
                <a:spcPct val="110000"/>
              </a:lnSpc>
              <a:buFont typeface="+mj-lt"/>
              <a:buAutoNum type="arabicPeriod"/>
            </a:pPr>
            <a:r>
              <a:rPr lang="en-US" altLang="zh-CN" b="1" err="1">
                <a:latin typeface="Times New Roman"/>
                <a:ea typeface="等线"/>
                <a:cs typeface="Times New Roman"/>
              </a:rPr>
              <a:t>cancellation_policy</a:t>
            </a:r>
            <a:r>
              <a:rPr lang="en-US" altLang="zh-CN" b="1">
                <a:latin typeface="Times New Roman"/>
                <a:ea typeface="等线"/>
                <a:cs typeface="Times New Roman"/>
              </a:rPr>
              <a:t>:</a:t>
            </a:r>
            <a:r>
              <a:rPr lang="en-US" altLang="zh-CN">
                <a:latin typeface="Times New Roman"/>
                <a:ea typeface="等线"/>
                <a:cs typeface="Times New Roman"/>
              </a:rPr>
              <a:t> all policies (strict, super_strict_30, super_strict_60) are grouped under strict.</a:t>
            </a:r>
          </a:p>
          <a:p>
            <a:pPr marL="457200" indent="-457200">
              <a:lnSpc>
                <a:spcPct val="110000"/>
              </a:lnSpc>
              <a:buFont typeface="+mj-lt"/>
              <a:buAutoNum type="arabicPeriod"/>
            </a:pPr>
            <a:r>
              <a:rPr lang="en-US" altLang="zh-CN" b="1" err="1">
                <a:latin typeface="Times New Roman"/>
                <a:ea typeface="等线"/>
                <a:cs typeface="Times New Roman"/>
              </a:rPr>
              <a:t>host_response_rate</a:t>
            </a:r>
            <a:r>
              <a:rPr lang="en-US" altLang="zh-CN" b="1">
                <a:latin typeface="Times New Roman"/>
                <a:ea typeface="等线"/>
                <a:cs typeface="Times New Roman"/>
              </a:rPr>
              <a:t>:</a:t>
            </a:r>
            <a:r>
              <a:rPr lang="en-US" altLang="zh-CN">
                <a:latin typeface="Times New Roman"/>
                <a:ea typeface="等线"/>
                <a:cs typeface="Times New Roman"/>
              </a:rPr>
              <a:t> retain only the numerical value.</a:t>
            </a:r>
          </a:p>
          <a:p>
            <a:pPr marL="457200" indent="-457200">
              <a:lnSpc>
                <a:spcPct val="110000"/>
              </a:lnSpc>
              <a:buFont typeface="+mj-lt"/>
              <a:buAutoNum type="arabicPeriod"/>
            </a:pPr>
            <a:r>
              <a:rPr lang="en-US" altLang="zh-CN" b="1">
                <a:latin typeface="Times New Roman"/>
                <a:ea typeface="等线"/>
                <a:cs typeface="Times New Roman"/>
              </a:rPr>
              <a:t>amenities:</a:t>
            </a:r>
            <a:r>
              <a:rPr lang="en-US" altLang="zh-CN">
                <a:latin typeface="Times New Roman"/>
                <a:ea typeface="等线"/>
                <a:cs typeface="Times New Roman"/>
              </a:rPr>
              <a:t> since the dataset combines multiple amenities into a single column, clean the data as follows: First, place over 70,000 rows of amenities into a list separated by commas. Iterate through each item, extract all unique amenities, and create a </a:t>
            </a:r>
            <a:r>
              <a:rPr lang="en-US" altLang="zh-CN" err="1">
                <a:latin typeface="Times New Roman"/>
                <a:ea typeface="等线"/>
                <a:cs typeface="Times New Roman"/>
              </a:rPr>
              <a:t>boolean</a:t>
            </a:r>
            <a:r>
              <a:rPr lang="en-US" altLang="zh-CN">
                <a:latin typeface="Times New Roman"/>
                <a:ea typeface="等线"/>
                <a:cs typeface="Times New Roman"/>
              </a:rPr>
              <a:t> </a:t>
            </a:r>
            <a:r>
              <a:rPr lang="en-US" altLang="zh-CN" err="1">
                <a:latin typeface="Times New Roman"/>
                <a:ea typeface="等线"/>
                <a:cs typeface="Times New Roman"/>
              </a:rPr>
              <a:t>column.After</a:t>
            </a:r>
            <a:r>
              <a:rPr lang="en-US" altLang="zh-CN">
                <a:latin typeface="Times New Roman"/>
                <a:ea typeface="等线"/>
                <a:cs typeface="Times New Roman"/>
              </a:rPr>
              <a:t> cleaning, 127 </a:t>
            </a:r>
            <a:r>
              <a:rPr lang="en-US" altLang="zh-CN" err="1">
                <a:latin typeface="Times New Roman"/>
                <a:ea typeface="等线"/>
                <a:cs typeface="Times New Roman"/>
              </a:rPr>
              <a:t>boolean</a:t>
            </a:r>
            <a:r>
              <a:rPr lang="en-US" altLang="zh-CN">
                <a:latin typeface="Times New Roman"/>
                <a:ea typeface="等线"/>
                <a:cs typeface="Times New Roman"/>
              </a:rPr>
              <a:t> columns were generated. To streamline subsequent analysis, only the 28 </a:t>
            </a:r>
            <a:r>
              <a:rPr lang="en-US" altLang="zh-CN" err="1">
                <a:latin typeface="Times New Roman"/>
                <a:ea typeface="等线"/>
                <a:cs typeface="Times New Roman"/>
              </a:rPr>
              <a:t>boolean</a:t>
            </a:r>
            <a:r>
              <a:rPr lang="en-US" altLang="zh-CN">
                <a:latin typeface="Times New Roman"/>
                <a:ea typeface="等线"/>
                <a:cs typeface="Times New Roman"/>
              </a:rPr>
              <a:t> columns with a total sum exceeding 10,000 were selected.</a:t>
            </a:r>
          </a:p>
          <a:p>
            <a:pPr marL="457200" indent="-457200">
              <a:lnSpc>
                <a:spcPct val="110000"/>
              </a:lnSpc>
              <a:buFont typeface="+mj-lt"/>
              <a:buAutoNum type="arabicPeriod"/>
            </a:pPr>
            <a:r>
              <a:rPr lang="en-US" altLang="zh-CN" b="1">
                <a:latin typeface="Times New Roman"/>
                <a:ea typeface="等线"/>
                <a:cs typeface="Times New Roman"/>
              </a:rPr>
              <a:t>Encode all categorical variables</a:t>
            </a:r>
            <a:r>
              <a:rPr lang="en-US" altLang="zh-CN">
                <a:latin typeface="Times New Roman"/>
                <a:ea typeface="等线"/>
                <a:cs typeface="Times New Roman"/>
              </a:rPr>
              <a:t> (</a:t>
            </a:r>
            <a:r>
              <a:rPr lang="en-US" altLang="zh-CN" err="1">
                <a:latin typeface="Times New Roman"/>
                <a:ea typeface="等线"/>
                <a:cs typeface="Times New Roman"/>
              </a:rPr>
              <a:t>room_type</a:t>
            </a:r>
            <a:r>
              <a:rPr lang="en-US" altLang="zh-CN">
                <a:latin typeface="Times New Roman"/>
                <a:ea typeface="等线"/>
                <a:cs typeface="Times New Roman"/>
              </a:rPr>
              <a:t>, </a:t>
            </a:r>
            <a:r>
              <a:rPr lang="en-US" altLang="zh-CN" err="1">
                <a:latin typeface="Times New Roman"/>
                <a:ea typeface="等线"/>
                <a:cs typeface="Times New Roman"/>
              </a:rPr>
              <a:t>cleaning_fee</a:t>
            </a:r>
            <a:r>
              <a:rPr lang="en-US" altLang="zh-CN">
                <a:latin typeface="Times New Roman"/>
                <a:ea typeface="等线"/>
                <a:cs typeface="Times New Roman"/>
              </a:rPr>
              <a:t>, city, </a:t>
            </a:r>
            <a:r>
              <a:rPr lang="en-US" altLang="zh-CN" err="1">
                <a:latin typeface="Times New Roman"/>
                <a:ea typeface="等线"/>
                <a:cs typeface="Times New Roman"/>
              </a:rPr>
              <a:t>cancellation_policy</a:t>
            </a:r>
            <a:r>
              <a:rPr lang="en-US" altLang="zh-CN">
                <a:latin typeface="Times New Roman"/>
                <a:ea typeface="等线"/>
                <a:cs typeface="Times New Roman"/>
              </a:rPr>
              <a:t>, </a:t>
            </a:r>
            <a:r>
              <a:rPr lang="en-US" altLang="zh-CN" err="1">
                <a:latin typeface="Times New Roman"/>
                <a:ea typeface="等线"/>
                <a:cs typeface="Times New Roman"/>
              </a:rPr>
              <a:t>instant_bookable</a:t>
            </a:r>
            <a:r>
              <a:rPr lang="en-US" altLang="zh-CN">
                <a:latin typeface="Times New Roman"/>
                <a:ea typeface="等线"/>
                <a:cs typeface="Times New Roman"/>
              </a:rPr>
              <a:t>).</a:t>
            </a:r>
            <a:endParaRPr lang="en-US" altLang="zh-CN" b="0">
              <a:effectLst/>
              <a:latin typeface="Times New Roman"/>
              <a:ea typeface="等线"/>
              <a:cs typeface="Times New Roman"/>
            </a:endParaRPr>
          </a:p>
        </p:txBody>
      </p:sp>
    </p:spTree>
    <p:extLst>
      <p:ext uri="{BB962C8B-B14F-4D97-AF65-F5344CB8AC3E}">
        <p14:creationId xmlns:p14="http://schemas.microsoft.com/office/powerpoint/2010/main" val="4213617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29447AC-B946-633D-FBD6-9083869C1918}"/>
              </a:ext>
            </a:extLst>
          </p:cNvPr>
          <p:cNvPicPr>
            <a:picLocks noGrp="1" noRot="1" noMove="1" noResize="1" noEditPoints="1" noAdjustHandles="1" noChangeArrowheads="1" noChangeShapeType="1" noCrop="1"/>
          </p:cNvPicPr>
          <p:nvPr/>
        </p:nvPicPr>
        <p:blipFill>
          <a:blip r:embed="rId2"/>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AAB10969-F32E-F315-7D68-4E497FBE0290}"/>
              </a:ext>
            </a:extLst>
          </p:cNvPr>
          <p:cNvSpPr txBox="1"/>
          <p:nvPr/>
        </p:nvSpPr>
        <p:spPr>
          <a:xfrm>
            <a:off x="613568" y="654622"/>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Data Cleaning</a:t>
            </a:r>
            <a:endParaRPr lang="zh-CN" altLang="en-US" sz="3600" b="1">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F7199F31-767E-2721-1DCC-D979A38F591C}"/>
              </a:ext>
            </a:extLst>
          </p:cNvPr>
          <p:cNvSpPr txBox="1"/>
          <p:nvPr/>
        </p:nvSpPr>
        <p:spPr>
          <a:xfrm>
            <a:off x="613568" y="1300953"/>
            <a:ext cx="5083777" cy="1015663"/>
          </a:xfrm>
          <a:prstGeom prst="rect">
            <a:avLst/>
          </a:prstGeom>
          <a:noFill/>
        </p:spPr>
        <p:txBody>
          <a:bodyPr wrap="square" lIns="91440" tIns="45720" rIns="91440" bIns="45720" rtlCol="0" anchor="t">
            <a:spAutoFit/>
          </a:bodyPr>
          <a:lstStyle/>
          <a:p>
            <a:r>
              <a:rPr lang="en-US" altLang="zh-CN" sz="2000">
                <a:latin typeface="Times New Roman"/>
                <a:ea typeface="等线"/>
                <a:cs typeface="Times New Roman"/>
              </a:rPr>
              <a:t>The cleaning process resulted in the following dataset. Note: All variables beginning with “amenity” are Boolean variables.</a:t>
            </a:r>
            <a:endParaRPr lang="zh-CN" altLang="en-US" sz="2000">
              <a:latin typeface="Times New Roman"/>
              <a:ea typeface="等线"/>
              <a:cs typeface="Times New Roman"/>
            </a:endParaRPr>
          </a:p>
        </p:txBody>
      </p:sp>
      <p:pic>
        <p:nvPicPr>
          <p:cNvPr id="11" name="图片 10">
            <a:extLst>
              <a:ext uri="{FF2B5EF4-FFF2-40B4-BE49-F238E27FC236}">
                <a16:creationId xmlns:a16="http://schemas.microsoft.com/office/drawing/2014/main" id="{11481FA2-7740-EB7E-F93C-640B27749E80}"/>
              </a:ext>
            </a:extLst>
          </p:cNvPr>
          <p:cNvPicPr>
            <a:picLocks noChangeAspect="1"/>
          </p:cNvPicPr>
          <p:nvPr/>
        </p:nvPicPr>
        <p:blipFill>
          <a:blip r:embed="rId3"/>
          <a:stretch>
            <a:fillRect/>
          </a:stretch>
        </p:blipFill>
        <p:spPr>
          <a:xfrm>
            <a:off x="613568" y="2329135"/>
            <a:ext cx="5716569" cy="4345929"/>
          </a:xfrm>
          <a:prstGeom prst="rect">
            <a:avLst/>
          </a:prstGeom>
        </p:spPr>
      </p:pic>
      <p:pic>
        <p:nvPicPr>
          <p:cNvPr id="17" name="图片 16">
            <a:extLst>
              <a:ext uri="{FF2B5EF4-FFF2-40B4-BE49-F238E27FC236}">
                <a16:creationId xmlns:a16="http://schemas.microsoft.com/office/drawing/2014/main" id="{8FE01767-D1ED-EC1E-D167-3DC75A32AFD2}"/>
              </a:ext>
            </a:extLst>
          </p:cNvPr>
          <p:cNvPicPr>
            <a:picLocks noChangeAspect="1"/>
          </p:cNvPicPr>
          <p:nvPr/>
        </p:nvPicPr>
        <p:blipFill>
          <a:blip r:embed="rId4"/>
          <a:stretch>
            <a:fillRect/>
          </a:stretch>
        </p:blipFill>
        <p:spPr>
          <a:xfrm>
            <a:off x="6494656" y="1529810"/>
            <a:ext cx="5697344" cy="5145254"/>
          </a:xfrm>
          <a:prstGeom prst="rect">
            <a:avLst/>
          </a:prstGeom>
        </p:spPr>
      </p:pic>
    </p:spTree>
    <p:extLst>
      <p:ext uri="{BB962C8B-B14F-4D97-AF65-F5344CB8AC3E}">
        <p14:creationId xmlns:p14="http://schemas.microsoft.com/office/powerpoint/2010/main" val="1998613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E350-BAA1-8483-3044-C9CF31622CE2}"/>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083620E-C07B-A2B3-99C7-A85BA0C28B08}"/>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4A502817-217D-A37F-B9A3-0A92CE93445D}"/>
              </a:ext>
            </a:extLst>
          </p:cNvPr>
          <p:cNvSpPr txBox="1"/>
          <p:nvPr/>
        </p:nvSpPr>
        <p:spPr>
          <a:xfrm>
            <a:off x="613568" y="660690"/>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Linear Regression</a:t>
            </a:r>
            <a:endParaRPr lang="zh-CN" altLang="en-US" sz="3600" b="1">
              <a:latin typeface="Times New Roman" panose="02020603050405020304" pitchFamily="18" charset="0"/>
              <a:cs typeface="Times New Roman" panose="02020603050405020304" pitchFamily="18" charset="0"/>
            </a:endParaRPr>
          </a:p>
        </p:txBody>
      </p:sp>
      <p:pic>
        <p:nvPicPr>
          <p:cNvPr id="3" name="图片 2" descr="文本&#10;&#10;AI 生成的内容可能不正确。">
            <a:extLst>
              <a:ext uri="{FF2B5EF4-FFF2-40B4-BE49-F238E27FC236}">
                <a16:creationId xmlns:a16="http://schemas.microsoft.com/office/drawing/2014/main" id="{FF5FF1C4-D476-0A0D-E834-04B3D37420E9}"/>
              </a:ext>
            </a:extLst>
          </p:cNvPr>
          <p:cNvPicPr>
            <a:picLocks noChangeAspect="1"/>
          </p:cNvPicPr>
          <p:nvPr/>
        </p:nvPicPr>
        <p:blipFill>
          <a:blip r:embed="rId4"/>
          <a:stretch>
            <a:fillRect/>
          </a:stretch>
        </p:blipFill>
        <p:spPr>
          <a:xfrm>
            <a:off x="250868" y="1315806"/>
            <a:ext cx="5766814" cy="5110394"/>
          </a:xfrm>
          <a:prstGeom prst="rect">
            <a:avLst/>
          </a:prstGeom>
        </p:spPr>
      </p:pic>
      <p:pic>
        <p:nvPicPr>
          <p:cNvPr id="8" name="图片 7" descr="图形用户界面, 文本&#10;&#10;AI 生成的内容可能不正确。">
            <a:extLst>
              <a:ext uri="{FF2B5EF4-FFF2-40B4-BE49-F238E27FC236}">
                <a16:creationId xmlns:a16="http://schemas.microsoft.com/office/drawing/2014/main" id="{FF7FC699-CAF8-409C-EFBB-3A22DACC6051}"/>
              </a:ext>
            </a:extLst>
          </p:cNvPr>
          <p:cNvPicPr>
            <a:picLocks noChangeAspect="1"/>
          </p:cNvPicPr>
          <p:nvPr/>
        </p:nvPicPr>
        <p:blipFill>
          <a:blip r:embed="rId5"/>
          <a:stretch>
            <a:fillRect/>
          </a:stretch>
        </p:blipFill>
        <p:spPr>
          <a:xfrm>
            <a:off x="6174320" y="1315806"/>
            <a:ext cx="5404114" cy="3682005"/>
          </a:xfrm>
          <a:prstGeom prst="rect">
            <a:avLst/>
          </a:prstGeom>
        </p:spPr>
      </p:pic>
      <p:sp>
        <p:nvSpPr>
          <p:cNvPr id="10" name="矩形 9">
            <a:extLst>
              <a:ext uri="{FF2B5EF4-FFF2-40B4-BE49-F238E27FC236}">
                <a16:creationId xmlns:a16="http://schemas.microsoft.com/office/drawing/2014/main" id="{3B23B1E0-DB80-4BA0-3345-9BAAB0ED4CC8}"/>
              </a:ext>
            </a:extLst>
          </p:cNvPr>
          <p:cNvSpPr/>
          <p:nvPr/>
        </p:nvSpPr>
        <p:spPr>
          <a:xfrm>
            <a:off x="312421" y="1920240"/>
            <a:ext cx="5615940" cy="144780"/>
          </a:xfrm>
          <a:prstGeom prst="rect">
            <a:avLst/>
          </a:prstGeom>
          <a:noFill/>
          <a:ln>
            <a:solidFill>
              <a:srgbClr val="FF5A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572E8946-26DF-C5E5-6F41-0DDA4090319F}"/>
              </a:ext>
            </a:extLst>
          </p:cNvPr>
          <p:cNvSpPr/>
          <p:nvPr/>
        </p:nvSpPr>
        <p:spPr>
          <a:xfrm>
            <a:off x="250868" y="2946267"/>
            <a:ext cx="5615940" cy="144780"/>
          </a:xfrm>
          <a:prstGeom prst="rect">
            <a:avLst/>
          </a:prstGeom>
          <a:noFill/>
          <a:ln>
            <a:solidFill>
              <a:srgbClr val="FF5A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0A3B4BA-ACEC-5F2A-FF25-84D82EA64FCF}"/>
              </a:ext>
            </a:extLst>
          </p:cNvPr>
          <p:cNvSpPr/>
          <p:nvPr/>
        </p:nvSpPr>
        <p:spPr>
          <a:xfrm>
            <a:off x="312421" y="2066348"/>
            <a:ext cx="5615940" cy="144780"/>
          </a:xfrm>
          <a:prstGeom prst="rect">
            <a:avLst/>
          </a:prstGeom>
          <a:noFill/>
          <a:ln>
            <a:solidFill>
              <a:srgbClr val="FF5A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238BEDD-C48A-A3EF-EF9B-2B275A5811A7}"/>
              </a:ext>
            </a:extLst>
          </p:cNvPr>
          <p:cNvSpPr/>
          <p:nvPr/>
        </p:nvSpPr>
        <p:spPr>
          <a:xfrm>
            <a:off x="6174320" y="2557646"/>
            <a:ext cx="5240440" cy="254133"/>
          </a:xfrm>
          <a:prstGeom prst="rect">
            <a:avLst/>
          </a:prstGeom>
          <a:no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A883DA03-8664-1764-D7D4-A2A279EE80E9}"/>
              </a:ext>
            </a:extLst>
          </p:cNvPr>
          <p:cNvSpPr/>
          <p:nvPr/>
        </p:nvSpPr>
        <p:spPr>
          <a:xfrm>
            <a:off x="6174320" y="3243446"/>
            <a:ext cx="5240440" cy="711334"/>
          </a:xfrm>
          <a:prstGeom prst="rect">
            <a:avLst/>
          </a:prstGeom>
          <a:no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69D10D8-4019-92FD-21B6-A7F08BE16C88}"/>
              </a:ext>
            </a:extLst>
          </p:cNvPr>
          <p:cNvSpPr/>
          <p:nvPr/>
        </p:nvSpPr>
        <p:spPr>
          <a:xfrm>
            <a:off x="316389" y="2356853"/>
            <a:ext cx="5611972" cy="312601"/>
          </a:xfrm>
          <a:prstGeom prst="rect">
            <a:avLst/>
          </a:prstGeom>
          <a:no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7968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DF46-491B-DB5E-B5CF-F9AA1EF682E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A55E2FC-F102-98F2-A754-AB30D38AA71D}"/>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25921B00-3408-7166-9811-64B26CCBDA7A}"/>
              </a:ext>
            </a:extLst>
          </p:cNvPr>
          <p:cNvSpPr txBox="1"/>
          <p:nvPr/>
        </p:nvSpPr>
        <p:spPr>
          <a:xfrm>
            <a:off x="613568" y="660690"/>
            <a:ext cx="7439025"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Linear Regression</a:t>
            </a:r>
            <a:endParaRPr lang="zh-CN" altLang="en-US" sz="3600" b="1">
              <a:latin typeface="Times New Roman" panose="02020603050405020304" pitchFamily="18" charset="0"/>
              <a:cs typeface="Times New Roman" panose="02020603050405020304" pitchFamily="18" charset="0"/>
            </a:endParaRPr>
          </a:p>
        </p:txBody>
      </p:sp>
      <p:pic>
        <p:nvPicPr>
          <p:cNvPr id="6146" name="Picture 2">
            <a:extLst>
              <a:ext uri="{FF2B5EF4-FFF2-40B4-BE49-F238E27FC236}">
                <a16:creationId xmlns:a16="http://schemas.microsoft.com/office/drawing/2014/main" id="{E1355CA1-176A-8E3A-3378-5333E5A095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568" y="1546556"/>
            <a:ext cx="4669632" cy="373009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1BF99372-4326-D07C-B467-E6F5F02A8998}"/>
              </a:ext>
            </a:extLst>
          </p:cNvPr>
          <p:cNvSpPr txBox="1"/>
          <p:nvPr/>
        </p:nvSpPr>
        <p:spPr>
          <a:xfrm>
            <a:off x="5896768" y="2942058"/>
            <a:ext cx="6137980" cy="707886"/>
          </a:xfrm>
          <a:prstGeom prst="rect">
            <a:avLst/>
          </a:prstGeom>
          <a:noFill/>
        </p:spPr>
        <p:txBody>
          <a:bodyPr wrap="square" lIns="91440" tIns="45720" rIns="91440" bIns="45720" rtlCol="0" anchor="t">
            <a:spAutoFit/>
          </a:bodyPr>
          <a:lstStyle/>
          <a:p>
            <a:r>
              <a:rPr lang="en-US" altLang="zh-CN" sz="2000">
                <a:latin typeface="Times New Roman"/>
                <a:ea typeface="等线"/>
                <a:cs typeface="Times New Roman"/>
              </a:rPr>
              <a:t>51 features related to location, property type, room type, capacity, amenities, host characteristics, and policy </a:t>
            </a:r>
            <a:endParaRPr lang="en-US" altLang="zh-CN" sz="2000">
              <a:latin typeface="Times New Roman" panose="02020603050405020304" pitchFamily="18" charset="0"/>
              <a:ea typeface="等线"/>
              <a:cs typeface="Times New Roman" panose="02020603050405020304" pitchFamily="18" charset="0"/>
            </a:endParaRPr>
          </a:p>
        </p:txBody>
      </p:sp>
      <p:sp>
        <p:nvSpPr>
          <p:cNvPr id="7" name="文本框 6">
            <a:extLst>
              <a:ext uri="{FF2B5EF4-FFF2-40B4-BE49-F238E27FC236}">
                <a16:creationId xmlns:a16="http://schemas.microsoft.com/office/drawing/2014/main" id="{0D60511A-5967-2E9E-0D0A-078882FD15D4}"/>
              </a:ext>
            </a:extLst>
          </p:cNvPr>
          <p:cNvSpPr txBox="1"/>
          <p:nvPr/>
        </p:nvSpPr>
        <p:spPr>
          <a:xfrm>
            <a:off x="5896768" y="3985390"/>
            <a:ext cx="6137980" cy="2585323"/>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Key Insights:</a:t>
            </a:r>
          </a:p>
          <a:p>
            <a:pPr marL="342900" indent="-342900">
              <a:buAutoNum type="arabicPeriod"/>
            </a:pPr>
            <a:r>
              <a:rPr lang="en-US" altLang="zh-CN">
                <a:latin typeface="Times New Roman" panose="02020603050405020304" pitchFamily="18" charset="0"/>
                <a:cs typeface="Times New Roman" panose="02020603050405020304" pitchFamily="18" charset="0"/>
              </a:rPr>
              <a:t>The number of guests a room can accommodate significantly impacts pricing (accommodates, bedrooms, bathrooms).</a:t>
            </a:r>
          </a:p>
          <a:p>
            <a:pPr marL="342900" indent="-342900">
              <a:buAutoNum type="arabicPeriod"/>
            </a:pPr>
            <a:r>
              <a:rPr lang="en-US" altLang="zh-CN">
                <a:latin typeface="Times New Roman" panose="02020603050405020304" pitchFamily="18" charset="0"/>
                <a:cs typeface="Times New Roman" panose="02020603050405020304" pitchFamily="18" charset="0"/>
              </a:rPr>
              <a:t>Compared to shared rooms, consumers prefer renting private rooms. (</a:t>
            </a:r>
            <a:r>
              <a:rPr lang="en-US" altLang="zh-CN" err="1">
                <a:latin typeface="Times New Roman" panose="02020603050405020304" pitchFamily="18" charset="0"/>
                <a:cs typeface="Times New Roman" panose="02020603050405020304" pitchFamily="18" charset="0"/>
              </a:rPr>
              <a:t>room_type_Private</a:t>
            </a:r>
            <a:r>
              <a:rPr lang="en-US" altLang="zh-CN">
                <a:latin typeface="Times New Roman" panose="02020603050405020304" pitchFamily="18" charset="0"/>
                <a:cs typeface="Times New Roman" panose="02020603050405020304" pitchFamily="18" charset="0"/>
              </a:rPr>
              <a:t> room, </a:t>
            </a:r>
            <a:r>
              <a:rPr lang="en-US" altLang="zh-CN" err="1">
                <a:latin typeface="Times New Roman" panose="02020603050405020304" pitchFamily="18" charset="0"/>
                <a:cs typeface="Times New Roman" panose="02020603050405020304" pitchFamily="18" charset="0"/>
              </a:rPr>
              <a:t>room_type_Shared</a:t>
            </a:r>
            <a:r>
              <a:rPr lang="en-US" altLang="zh-CN">
                <a:latin typeface="Times New Roman" panose="02020603050405020304" pitchFamily="18" charset="0"/>
                <a:cs typeface="Times New Roman" panose="02020603050405020304" pitchFamily="18" charset="0"/>
              </a:rPr>
              <a:t> room)</a:t>
            </a:r>
          </a:p>
          <a:p>
            <a:pPr marL="342900" indent="-342900">
              <a:buAutoNum type="arabicPeriod"/>
            </a:pPr>
            <a:r>
              <a:rPr lang="en-US" altLang="zh-CN">
                <a:latin typeface="Times New Roman" panose="02020603050405020304" pitchFamily="18" charset="0"/>
                <a:cs typeface="Times New Roman" panose="02020603050405020304" pitchFamily="18" charset="0"/>
              </a:rPr>
              <a:t>Geographic location also significantly impacts rental prices, with western regions generally having lower rates. (latitude, longitude, </a:t>
            </a:r>
            <a:r>
              <a:rPr lang="en-US" altLang="zh-CN" err="1">
                <a:latin typeface="Times New Roman" panose="02020603050405020304" pitchFamily="18" charset="0"/>
                <a:cs typeface="Times New Roman" panose="02020603050405020304" pitchFamily="18" charset="0"/>
              </a:rPr>
              <a:t>city_Chicago</a:t>
            </a:r>
            <a:r>
              <a:rPr lang="en-US" altLang="zh-CN">
                <a:latin typeface="Times New Roman" panose="02020603050405020304" pitchFamily="18" charset="0"/>
                <a:cs typeface="Times New Roman" panose="02020603050405020304" pitchFamily="18" charset="0"/>
              </a:rPr>
              <a:t>, </a:t>
            </a:r>
            <a:r>
              <a:rPr lang="en-US" altLang="zh-CN" err="1">
                <a:latin typeface="Times New Roman" panose="02020603050405020304" pitchFamily="18" charset="0"/>
                <a:cs typeface="Times New Roman" panose="02020603050405020304" pitchFamily="18" charset="0"/>
              </a:rPr>
              <a:t>city_DC</a:t>
            </a:r>
            <a:r>
              <a:rPr lang="en-US" altLang="zh-CN">
                <a:latin typeface="Times New Roman" panose="02020603050405020304" pitchFamily="18" charset="0"/>
                <a:cs typeface="Times New Roman" panose="02020603050405020304" pitchFamily="18" charset="0"/>
              </a:rPr>
              <a:t>, </a:t>
            </a:r>
            <a:r>
              <a:rPr lang="en-US" altLang="zh-CN" err="1">
                <a:latin typeface="Times New Roman" panose="02020603050405020304" pitchFamily="18" charset="0"/>
                <a:cs typeface="Times New Roman" panose="02020603050405020304" pitchFamily="18" charset="0"/>
              </a:rPr>
              <a:t>city_LA</a:t>
            </a:r>
            <a:r>
              <a:rPr lang="en-US" altLang="zh-CN">
                <a:latin typeface="Times New Roman" panose="02020603050405020304" pitchFamily="18" charset="0"/>
                <a:cs typeface="Times New Roman" panose="02020603050405020304" pitchFamily="18" charset="0"/>
              </a:rPr>
              <a:t>, </a:t>
            </a:r>
            <a:r>
              <a:rPr lang="en-US" altLang="zh-CN" err="1">
                <a:latin typeface="Times New Roman" panose="02020603050405020304" pitchFamily="18" charset="0"/>
                <a:cs typeface="Times New Roman" panose="02020603050405020304" pitchFamily="18" charset="0"/>
              </a:rPr>
              <a:t>city_NYC</a:t>
            </a:r>
            <a:r>
              <a:rPr lang="en-US" altLang="zh-CN">
                <a:latin typeface="Times New Roman" panose="02020603050405020304" pitchFamily="18" charset="0"/>
                <a:cs typeface="Times New Roman" panose="02020603050405020304" pitchFamily="18" charset="0"/>
              </a:rPr>
              <a:t>, </a:t>
            </a:r>
            <a:r>
              <a:rPr lang="en-US" altLang="zh-CN" err="1">
                <a:latin typeface="Times New Roman" panose="02020603050405020304" pitchFamily="18" charset="0"/>
                <a:cs typeface="Times New Roman" panose="02020603050405020304" pitchFamily="18" charset="0"/>
              </a:rPr>
              <a:t>city_SF</a:t>
            </a:r>
            <a:r>
              <a:rPr lang="en-US" altLang="zh-CN">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id="{CED7AE20-3D1F-7455-E08D-F559B53746EF}"/>
              </a:ext>
            </a:extLst>
          </p:cNvPr>
          <p:cNvSpPr txBox="1"/>
          <p:nvPr/>
        </p:nvSpPr>
        <p:spPr>
          <a:xfrm>
            <a:off x="613568" y="5276653"/>
            <a:ext cx="4669632" cy="1384995"/>
          </a:xfrm>
          <a:prstGeom prst="rect">
            <a:avLst/>
          </a:prstGeom>
          <a:noFill/>
        </p:spPr>
        <p:txBody>
          <a:bodyPr wrap="square" rtlCol="0">
            <a:spAutoFit/>
          </a:bodyPr>
          <a:lstStyle/>
          <a:p>
            <a:pPr algn="ctr"/>
            <a:r>
              <a:rPr lang="en-US" altLang="zh-CN" sz="1400">
                <a:latin typeface="Times New Roman" panose="02020603050405020304" pitchFamily="18" charset="0"/>
                <a:cs typeface="Times New Roman" panose="02020603050405020304" pitchFamily="18" charset="0"/>
              </a:rPr>
              <a:t>Figure 1 </a:t>
            </a:r>
          </a:p>
          <a:p>
            <a:pPr algn="ctr"/>
            <a:r>
              <a:rPr lang="en-US" altLang="zh-CN" sz="1400">
                <a:latin typeface="Times New Roman" panose="02020603050405020304" pitchFamily="18" charset="0"/>
                <a:cs typeface="Times New Roman" panose="02020603050405020304" pitchFamily="18" charset="0"/>
              </a:rPr>
              <a:t>Confirms that residuals were randomly distributed and approximately normal, supporting the model’s assumptions. </a:t>
            </a:r>
          </a:p>
          <a:p>
            <a:pPr algn="ctr"/>
            <a:r>
              <a:rPr lang="en-US" altLang="zh-CN" sz="1400">
                <a:latin typeface="Times New Roman" panose="02020603050405020304" pitchFamily="18" charset="0"/>
                <a:cs typeface="Times New Roman" panose="02020603050405020304" pitchFamily="18" charset="0"/>
              </a:rPr>
              <a:t>While interpretable, this model assumes linearity and independence, which limits its ability to capture complex interactions.</a:t>
            </a:r>
            <a:endParaRPr lang="en-US" altLang="zh-CN" sz="1600" b="1">
              <a:effectLst/>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15B771E4-3780-7F79-88AC-F111F0A35ADA}"/>
              </a:ext>
            </a:extLst>
          </p:cNvPr>
          <p:cNvGraphicFramePr>
            <a:graphicFrameLocks noGrp="1"/>
          </p:cNvGraphicFramePr>
          <p:nvPr>
            <p:extLst>
              <p:ext uri="{D42A27DB-BD31-4B8C-83A1-F6EECF244321}">
                <p14:modId xmlns:p14="http://schemas.microsoft.com/office/powerpoint/2010/main" val="2766808446"/>
              </p:ext>
            </p:extLst>
          </p:nvPr>
        </p:nvGraphicFramePr>
        <p:xfrm>
          <a:off x="7135755" y="792005"/>
          <a:ext cx="3660006" cy="1854200"/>
        </p:xfrm>
        <a:graphic>
          <a:graphicData uri="http://schemas.openxmlformats.org/drawingml/2006/table">
            <a:tbl>
              <a:tblPr firstRow="1" bandRow="1">
                <a:tableStyleId>{3B4B98B0-60AC-42C2-AFA5-B58CD77FA1E5}</a:tableStyleId>
              </a:tblPr>
              <a:tblGrid>
                <a:gridCol w="1868946">
                  <a:extLst>
                    <a:ext uri="{9D8B030D-6E8A-4147-A177-3AD203B41FA5}">
                      <a16:colId xmlns:a16="http://schemas.microsoft.com/office/drawing/2014/main" val="1630482925"/>
                    </a:ext>
                  </a:extLst>
                </a:gridCol>
                <a:gridCol w="830710">
                  <a:extLst>
                    <a:ext uri="{9D8B030D-6E8A-4147-A177-3AD203B41FA5}">
                      <a16:colId xmlns:a16="http://schemas.microsoft.com/office/drawing/2014/main" val="1143877207"/>
                    </a:ext>
                  </a:extLst>
                </a:gridCol>
                <a:gridCol w="960350">
                  <a:extLst>
                    <a:ext uri="{9D8B030D-6E8A-4147-A177-3AD203B41FA5}">
                      <a16:colId xmlns:a16="http://schemas.microsoft.com/office/drawing/2014/main" val="3274008283"/>
                    </a:ext>
                  </a:extLst>
                </a:gridCol>
              </a:tblGrid>
              <a:tr h="370840">
                <a:tc>
                  <a:txBody>
                    <a:bodyPr/>
                    <a:lstStyle/>
                    <a:p>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Train</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Test</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6815405"/>
                  </a:ext>
                </a:extLst>
              </a:tr>
              <a:tr h="370840">
                <a:tc>
                  <a:txBody>
                    <a:bodyPr/>
                    <a:lstStyle/>
                    <a:p>
                      <a:r>
                        <a:rPr lang="en-US" altLang="zh-CN">
                          <a:latin typeface="Times New Roman" panose="02020603050405020304" pitchFamily="18" charset="0"/>
                          <a:cs typeface="Times New Roman" panose="02020603050405020304" pitchFamily="18" charset="0"/>
                        </a:rPr>
                        <a:t>RMSE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0.4563</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0.4544</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028563"/>
                  </a:ext>
                </a:extLst>
              </a:tr>
              <a:tr h="370840">
                <a:tc>
                  <a:txBody>
                    <a:bodyPr/>
                    <a:lstStyle/>
                    <a:p>
                      <a:r>
                        <a:rPr lang="en-US" altLang="zh-CN">
                          <a:latin typeface="Times New Roman" panose="02020603050405020304" pitchFamily="18" charset="0"/>
                          <a:cs typeface="Times New Roman" panose="02020603050405020304" pitchFamily="18" charset="0"/>
                        </a:rPr>
                        <a:t>R-square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0.5956</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0.5981</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4114889"/>
                  </a:ext>
                </a:extLst>
              </a:tr>
              <a:tr h="370840">
                <a:tc>
                  <a:txBody>
                    <a:bodyPr/>
                    <a:lstStyle/>
                    <a:p>
                      <a:r>
                        <a:rPr lang="en-US" altLang="zh-CN" sz="1800">
                          <a:latin typeface="Times New Roman" panose="02020603050405020304" pitchFamily="18" charset="0"/>
                          <a:cs typeface="Times New Roman" panose="02020603050405020304" pitchFamily="18" charset="0"/>
                        </a:rPr>
                        <a:t>MAE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0.3402</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0.3400</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72481744"/>
                  </a:ext>
                </a:extLst>
              </a:tr>
              <a:tr h="370840">
                <a:tc>
                  <a:txBody>
                    <a:bodyPr/>
                    <a:lstStyle/>
                    <a:p>
                      <a:r>
                        <a:rPr lang="en-US" altLang="zh-CN">
                          <a:latin typeface="Times New Roman" panose="02020603050405020304" pitchFamily="18" charset="0"/>
                          <a:cs typeface="Times New Roman" panose="02020603050405020304" pitchFamily="18" charset="0"/>
                        </a:rPr>
                        <a:t>5-fold CV RMSE</a:t>
                      </a:r>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en-US" altLang="zh-CN">
                          <a:latin typeface="Times New Roman" panose="02020603050405020304" pitchFamily="18" charset="0"/>
                          <a:cs typeface="Times New Roman" panose="02020603050405020304" pitchFamily="18" charset="0"/>
                        </a:rPr>
                        <a:t>0.4653</a:t>
                      </a:r>
                      <a:endParaRPr lang="zh-CN" altLang="en-US">
                        <a:latin typeface="Times New Roman" panose="02020603050405020304" pitchFamily="18" charset="0"/>
                        <a:cs typeface="Times New Roman" panose="02020603050405020304" pitchFamily="18" charset="0"/>
                      </a:endParaRPr>
                    </a:p>
                  </a:txBody>
                  <a:tcPr/>
                </a:tc>
                <a:tc hMerge="1">
                  <a:txBody>
                    <a:bodyPr/>
                    <a:lstStyle/>
                    <a:p>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142268"/>
                  </a:ext>
                </a:extLst>
              </a:tr>
            </a:tbl>
          </a:graphicData>
        </a:graphic>
      </p:graphicFrame>
    </p:spTree>
    <p:extLst>
      <p:ext uri="{BB962C8B-B14F-4D97-AF65-F5344CB8AC3E}">
        <p14:creationId xmlns:p14="http://schemas.microsoft.com/office/powerpoint/2010/main" val="1414337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8CFAF81-D86F-DFF9-30B7-BE98F569086F}"/>
              </a:ext>
            </a:extLst>
          </p:cNvPr>
          <p:cNvPicPr>
            <a:picLocks noGrp="1" noRo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5" name="文本框 4">
            <a:extLst>
              <a:ext uri="{FF2B5EF4-FFF2-40B4-BE49-F238E27FC236}">
                <a16:creationId xmlns:a16="http://schemas.microsoft.com/office/drawing/2014/main" id="{E3FFD221-CED2-CEA2-B6C3-7ED70F2D767E}"/>
              </a:ext>
            </a:extLst>
          </p:cNvPr>
          <p:cNvSpPr txBox="1"/>
          <p:nvPr/>
        </p:nvSpPr>
        <p:spPr>
          <a:xfrm>
            <a:off x="613568" y="660690"/>
            <a:ext cx="3660007"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Lasso</a:t>
            </a:r>
            <a:endParaRPr lang="zh-CN" altLang="en-US" sz="3600" b="1">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474D360D-E989-6CE4-9797-0B0B82E05E50}"/>
              </a:ext>
            </a:extLst>
          </p:cNvPr>
          <p:cNvPicPr>
            <a:picLocks noChangeAspect="1"/>
          </p:cNvPicPr>
          <p:nvPr/>
        </p:nvPicPr>
        <p:blipFill>
          <a:blip r:embed="rId4"/>
          <a:srcRect l="4695" t="6951" r="7655" b="1838"/>
          <a:stretch>
            <a:fillRect/>
          </a:stretch>
        </p:blipFill>
        <p:spPr>
          <a:xfrm>
            <a:off x="6332751" y="1208387"/>
            <a:ext cx="5245681" cy="3341289"/>
          </a:xfrm>
          <a:prstGeom prst="rect">
            <a:avLst/>
          </a:prstGeom>
        </p:spPr>
      </p:pic>
      <p:graphicFrame>
        <p:nvGraphicFramePr>
          <p:cNvPr id="11" name="表格 10">
            <a:extLst>
              <a:ext uri="{FF2B5EF4-FFF2-40B4-BE49-F238E27FC236}">
                <a16:creationId xmlns:a16="http://schemas.microsoft.com/office/drawing/2014/main" id="{5B2DD769-4F79-2B82-9CA0-54221798AD04}"/>
              </a:ext>
            </a:extLst>
          </p:cNvPr>
          <p:cNvGraphicFramePr>
            <a:graphicFrameLocks noGrp="1"/>
          </p:cNvGraphicFramePr>
          <p:nvPr>
            <p:extLst>
              <p:ext uri="{D42A27DB-BD31-4B8C-83A1-F6EECF244321}">
                <p14:modId xmlns:p14="http://schemas.microsoft.com/office/powerpoint/2010/main" val="3042761798"/>
              </p:ext>
            </p:extLst>
          </p:nvPr>
        </p:nvGraphicFramePr>
        <p:xfrm>
          <a:off x="1243107" y="2321882"/>
          <a:ext cx="3660006" cy="1854200"/>
        </p:xfrm>
        <a:graphic>
          <a:graphicData uri="http://schemas.openxmlformats.org/drawingml/2006/table">
            <a:tbl>
              <a:tblPr firstRow="1" bandRow="1">
                <a:tableStyleId>{3B4B98B0-60AC-42C2-AFA5-B58CD77FA1E5}</a:tableStyleId>
              </a:tblPr>
              <a:tblGrid>
                <a:gridCol w="1868946">
                  <a:extLst>
                    <a:ext uri="{9D8B030D-6E8A-4147-A177-3AD203B41FA5}">
                      <a16:colId xmlns:a16="http://schemas.microsoft.com/office/drawing/2014/main" val="1630482925"/>
                    </a:ext>
                  </a:extLst>
                </a:gridCol>
                <a:gridCol w="830710">
                  <a:extLst>
                    <a:ext uri="{9D8B030D-6E8A-4147-A177-3AD203B41FA5}">
                      <a16:colId xmlns:a16="http://schemas.microsoft.com/office/drawing/2014/main" val="1143877207"/>
                    </a:ext>
                  </a:extLst>
                </a:gridCol>
                <a:gridCol w="960350">
                  <a:extLst>
                    <a:ext uri="{9D8B030D-6E8A-4147-A177-3AD203B41FA5}">
                      <a16:colId xmlns:a16="http://schemas.microsoft.com/office/drawing/2014/main" val="3274008283"/>
                    </a:ext>
                  </a:extLst>
                </a:gridCol>
              </a:tblGrid>
              <a:tr h="370840">
                <a:tc>
                  <a:txBody>
                    <a:bodyPr/>
                    <a:lstStyle/>
                    <a:p>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Train</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Test</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6815405"/>
                  </a:ext>
                </a:extLst>
              </a:tr>
              <a:tr h="370840">
                <a:tc>
                  <a:txBody>
                    <a:bodyPr/>
                    <a:lstStyle/>
                    <a:p>
                      <a:r>
                        <a:rPr lang="en-US" altLang="zh-CN">
                          <a:latin typeface="Times New Roman" panose="02020603050405020304" pitchFamily="18" charset="0"/>
                          <a:cs typeface="Times New Roman" panose="02020603050405020304" pitchFamily="18" charset="0"/>
                        </a:rPr>
                        <a:t>RMSE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0.4563</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0.4544</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028563"/>
                  </a:ext>
                </a:extLst>
              </a:tr>
              <a:tr h="370840">
                <a:tc>
                  <a:txBody>
                    <a:bodyPr/>
                    <a:lstStyle/>
                    <a:p>
                      <a:r>
                        <a:rPr lang="en-US" altLang="zh-CN">
                          <a:latin typeface="Times New Roman" panose="02020603050405020304" pitchFamily="18" charset="0"/>
                          <a:cs typeface="Times New Roman" panose="02020603050405020304" pitchFamily="18" charset="0"/>
                        </a:rPr>
                        <a:t>R-square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0.5956</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0.5981</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4114889"/>
                  </a:ext>
                </a:extLst>
              </a:tr>
              <a:tr h="370840">
                <a:tc>
                  <a:txBody>
                    <a:bodyPr/>
                    <a:lstStyle/>
                    <a:p>
                      <a:r>
                        <a:rPr lang="en-US" altLang="zh-CN" sz="1800">
                          <a:latin typeface="Times New Roman" panose="02020603050405020304" pitchFamily="18" charset="0"/>
                          <a:cs typeface="Times New Roman" panose="02020603050405020304" pitchFamily="18" charset="0"/>
                        </a:rPr>
                        <a:t>MAE</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0.3402</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sz="1800">
                          <a:latin typeface="Times New Roman" panose="02020603050405020304" pitchFamily="18" charset="0"/>
                          <a:cs typeface="Times New Roman" panose="02020603050405020304" pitchFamily="18" charset="0"/>
                        </a:rPr>
                        <a:t>0.3400</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72481744"/>
                  </a:ext>
                </a:extLst>
              </a:tr>
              <a:tr h="370840">
                <a:tc>
                  <a:txBody>
                    <a:bodyPr/>
                    <a:lstStyle/>
                    <a:p>
                      <a:r>
                        <a:rPr lang="en-US" altLang="zh-CN">
                          <a:latin typeface="Times New Roman" panose="02020603050405020304" pitchFamily="18" charset="0"/>
                          <a:cs typeface="Times New Roman" panose="02020603050405020304" pitchFamily="18" charset="0"/>
                        </a:rPr>
                        <a:t>5-fold CV RMSE</a:t>
                      </a:r>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en-US" altLang="zh-CN">
                          <a:latin typeface="Times New Roman" panose="02020603050405020304" pitchFamily="18" charset="0"/>
                          <a:cs typeface="Times New Roman" panose="02020603050405020304" pitchFamily="18" charset="0"/>
                        </a:rPr>
                        <a:t>0.4653</a:t>
                      </a:r>
                      <a:endParaRPr lang="zh-CN" altLang="en-US">
                        <a:latin typeface="Times New Roman" panose="02020603050405020304" pitchFamily="18" charset="0"/>
                        <a:cs typeface="Times New Roman" panose="02020603050405020304" pitchFamily="18" charset="0"/>
                      </a:endParaRPr>
                    </a:p>
                  </a:txBody>
                  <a:tcPr/>
                </a:tc>
                <a:tc hMerge="1">
                  <a:txBody>
                    <a:bodyPr/>
                    <a:lstStyle/>
                    <a:p>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142268"/>
                  </a:ext>
                </a:extLst>
              </a:tr>
            </a:tbl>
          </a:graphicData>
        </a:graphic>
      </p:graphicFrame>
      <p:sp>
        <p:nvSpPr>
          <p:cNvPr id="13" name="文本框 12">
            <a:extLst>
              <a:ext uri="{FF2B5EF4-FFF2-40B4-BE49-F238E27FC236}">
                <a16:creationId xmlns:a16="http://schemas.microsoft.com/office/drawing/2014/main" id="{4B7EC748-5508-E190-8FBB-3C52883355D0}"/>
              </a:ext>
            </a:extLst>
          </p:cNvPr>
          <p:cNvSpPr txBox="1"/>
          <p:nvPr/>
        </p:nvSpPr>
        <p:spPr>
          <a:xfrm>
            <a:off x="1039931" y="4501357"/>
            <a:ext cx="4460106" cy="1631216"/>
          </a:xfrm>
          <a:prstGeom prst="rect">
            <a:avLst/>
          </a:prstGeom>
          <a:noFill/>
        </p:spPr>
        <p:txBody>
          <a:bodyPr wrap="square" lIns="91440" tIns="45720" rIns="91440" bIns="45720" rtlCol="0" anchor="t">
            <a:spAutoFit/>
          </a:bodyPr>
          <a:lstStyle/>
          <a:p>
            <a:r>
              <a:rPr lang="en-US" altLang="zh-CN" sz="2000">
                <a:latin typeface="Times New Roman"/>
                <a:ea typeface="等线"/>
                <a:cs typeface="Times New Roman"/>
              </a:rPr>
              <a:t>Lasso retained 48 of the 51 predictors, identifying the most influential variables while removing redundant ones.</a:t>
            </a:r>
          </a:p>
          <a:p>
            <a:r>
              <a:rPr lang="en-US" altLang="zh-CN" sz="2000">
                <a:latin typeface="Times New Roman"/>
                <a:ea typeface="等线"/>
                <a:cs typeface="Times New Roman"/>
              </a:rPr>
              <a:t>The removed features: latitude, longitude, </a:t>
            </a:r>
            <a:r>
              <a:rPr lang="en-US" altLang="zh-CN" sz="2000" err="1">
                <a:latin typeface="Times New Roman"/>
                <a:ea typeface="等线"/>
                <a:cs typeface="Times New Roman"/>
              </a:rPr>
              <a:t>cancellation_policy_strict</a:t>
            </a:r>
            <a:endParaRPr lang="zh-CN" altLang="en-US" sz="2000">
              <a:latin typeface="Times New Roman"/>
              <a:ea typeface="等线"/>
              <a:cs typeface="Times New Roman"/>
            </a:endParaRPr>
          </a:p>
        </p:txBody>
      </p:sp>
      <p:sp>
        <p:nvSpPr>
          <p:cNvPr id="14" name="文本框 13">
            <a:extLst>
              <a:ext uri="{FF2B5EF4-FFF2-40B4-BE49-F238E27FC236}">
                <a16:creationId xmlns:a16="http://schemas.microsoft.com/office/drawing/2014/main" id="{64B311FA-866D-C41F-4395-A05E1B85AF31}"/>
              </a:ext>
            </a:extLst>
          </p:cNvPr>
          <p:cNvSpPr txBox="1"/>
          <p:nvPr/>
        </p:nvSpPr>
        <p:spPr>
          <a:xfrm>
            <a:off x="6447928" y="4762968"/>
            <a:ext cx="5015325" cy="1508105"/>
          </a:xfrm>
          <a:prstGeom prst="rect">
            <a:avLst/>
          </a:prstGeom>
          <a:noFill/>
        </p:spPr>
        <p:txBody>
          <a:bodyPr wrap="square" rtlCol="0">
            <a:spAutoFit/>
          </a:bodyPr>
          <a:lstStyle/>
          <a:p>
            <a:pPr algn="ctr"/>
            <a:r>
              <a:rPr lang="en-US" altLang="zh-CN" sz="2000" b="1">
                <a:latin typeface="Times New Roman" panose="02020603050405020304" pitchFamily="18" charset="0"/>
                <a:cs typeface="Times New Roman" panose="02020603050405020304" pitchFamily="18" charset="0"/>
              </a:rPr>
              <a:t>Figure 2</a:t>
            </a:r>
          </a:p>
          <a:p>
            <a:pPr algn="just"/>
            <a:r>
              <a:rPr lang="en-US" altLang="zh-CN">
                <a:latin typeface="Times New Roman" panose="02020603050405020304" pitchFamily="18" charset="0"/>
                <a:cs typeface="Times New Roman" panose="02020603050405020304" pitchFamily="18" charset="0"/>
              </a:rPr>
              <a:t>Figure 2 presents the cross-validation curve used to select the optimal alpha for Lasso regularization. The minimum mean-squared-error occurs near alpha = 0.0004, balancing bias and variance effectively.</a:t>
            </a:r>
            <a:endParaRPr lang="zh-CN" altLang="en-US"/>
          </a:p>
        </p:txBody>
      </p:sp>
    </p:spTree>
    <p:extLst>
      <p:ext uri="{BB962C8B-B14F-4D97-AF65-F5344CB8AC3E}">
        <p14:creationId xmlns:p14="http://schemas.microsoft.com/office/powerpoint/2010/main" val="3554705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59E6-3221-6040-ADBF-B9315F32E4C3}"/>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9F428170-5EB1-508C-AD73-72B0681E1136}"/>
              </a:ext>
            </a:extLst>
          </p:cNvPr>
          <p:cNvPicPr>
            <a:picLocks noGrp="1" noRot="1" noMove="1" noResize="1" noEditPoints="1" noAdjustHandles="1" noChangeArrowheads="1" noChangeShapeType="1" noCrop="1"/>
          </p:cNvPicPr>
          <p:nvPr/>
        </p:nvPicPr>
        <p:blipFill>
          <a:blip r:embed="rId2"/>
          <a:srcRect l="9010"/>
          <a:stretch>
            <a:fillRect/>
          </a:stretch>
        </p:blipFill>
        <p:spPr>
          <a:xfrm>
            <a:off x="0" y="101598"/>
            <a:ext cx="3535556" cy="1752381"/>
          </a:xfrm>
          <a:prstGeom prst="rect">
            <a:avLst/>
          </a:prstGeom>
        </p:spPr>
      </p:pic>
      <p:sp>
        <p:nvSpPr>
          <p:cNvPr id="2" name="文本框 1">
            <a:extLst>
              <a:ext uri="{FF2B5EF4-FFF2-40B4-BE49-F238E27FC236}">
                <a16:creationId xmlns:a16="http://schemas.microsoft.com/office/drawing/2014/main" id="{40FB7C94-FB6D-9D1B-A366-AFC7FBAE9755}"/>
              </a:ext>
            </a:extLst>
          </p:cNvPr>
          <p:cNvSpPr txBox="1"/>
          <p:nvPr/>
        </p:nvSpPr>
        <p:spPr>
          <a:xfrm>
            <a:off x="613568" y="660690"/>
            <a:ext cx="3660007"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Lasso</a:t>
            </a:r>
            <a:endParaRPr lang="zh-CN" altLang="en-US" sz="3600" b="1">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B804D894-9DD6-A05E-1029-BC09DDAB885A}"/>
              </a:ext>
            </a:extLst>
          </p:cNvPr>
          <p:cNvPicPr>
            <a:picLocks noChangeAspect="1"/>
          </p:cNvPicPr>
          <p:nvPr/>
        </p:nvPicPr>
        <p:blipFill>
          <a:blip r:embed="rId3"/>
          <a:srcRect l="637" t="-1" r="1454" b="1242"/>
          <a:stretch>
            <a:fillRect/>
          </a:stretch>
        </p:blipFill>
        <p:spPr>
          <a:xfrm>
            <a:off x="207168" y="1853979"/>
            <a:ext cx="5888832" cy="3951087"/>
          </a:xfrm>
          <a:prstGeom prst="rect">
            <a:avLst/>
          </a:prstGeom>
        </p:spPr>
      </p:pic>
      <p:sp>
        <p:nvSpPr>
          <p:cNvPr id="3" name="文本框 2">
            <a:extLst>
              <a:ext uri="{FF2B5EF4-FFF2-40B4-BE49-F238E27FC236}">
                <a16:creationId xmlns:a16="http://schemas.microsoft.com/office/drawing/2014/main" id="{FC0A7A18-D8FB-EF1C-A197-B9CBCC0AF707}"/>
              </a:ext>
            </a:extLst>
          </p:cNvPr>
          <p:cNvSpPr txBox="1"/>
          <p:nvPr/>
        </p:nvSpPr>
        <p:spPr>
          <a:xfrm>
            <a:off x="6532756" y="1321143"/>
            <a:ext cx="5312376" cy="5016758"/>
          </a:xfrm>
          <a:prstGeom prst="rect">
            <a:avLst/>
          </a:prstGeom>
          <a:noFill/>
        </p:spPr>
        <p:txBody>
          <a:bodyPr wrap="square" rtlCol="0">
            <a:spAutoFit/>
          </a:bodyPr>
          <a:lstStyle/>
          <a:p>
            <a:pPr algn="just"/>
            <a:r>
              <a:rPr lang="en-US" altLang="zh-CN" sz="2000">
                <a:latin typeface="Times New Roman" panose="02020603050405020304" pitchFamily="18" charset="0"/>
                <a:cs typeface="Times New Roman" panose="02020603050405020304" pitchFamily="18" charset="0"/>
              </a:rPr>
              <a:t>Key Insights:</a:t>
            </a:r>
          </a:p>
          <a:p>
            <a:pPr marL="285750" indent="-285750" algn="just">
              <a:buFont typeface="Arial" panose="020B0604020202020204" pitchFamily="34" charset="0"/>
              <a:buChar char="•"/>
            </a:pPr>
            <a:r>
              <a:rPr lang="en-US" altLang="zh-CN" sz="2000">
                <a:latin typeface="Times New Roman" panose="02020603050405020304" pitchFamily="18" charset="0"/>
                <a:cs typeface="Times New Roman" panose="02020603050405020304" pitchFamily="18" charset="0"/>
              </a:rPr>
              <a:t>Accommodates and bedrooms again have the largest positive impacts, aligned with the result from linear regression</a:t>
            </a:r>
          </a:p>
          <a:p>
            <a:pPr marL="285750" indent="-285750" algn="just">
              <a:buFont typeface="Arial" panose="020B0604020202020204" pitchFamily="34" charset="0"/>
              <a:buChar char="•"/>
            </a:pPr>
            <a:r>
              <a:rPr lang="en-US" altLang="zh-CN" sz="2000">
                <a:latin typeface="Times New Roman" panose="02020603050405020304" pitchFamily="18" charset="0"/>
                <a:cs typeface="Times New Roman" panose="02020603050405020304" pitchFamily="18" charset="0"/>
              </a:rPr>
              <a:t>The city still exerts a significant influence on prices, particularly with lower prices observed in West Coast cities. Notably, SF can positively impact prices in Lasso, which contradicts linear regression</a:t>
            </a:r>
          </a:p>
          <a:p>
            <a:pPr marL="285750" indent="-285750" algn="just">
              <a:buFont typeface="Arial" panose="020B0604020202020204" pitchFamily="34" charset="0"/>
              <a:buChar char="•"/>
            </a:pPr>
            <a:r>
              <a:rPr lang="en-US" altLang="zh-CN" sz="2000">
                <a:latin typeface="Times New Roman" panose="02020603050405020304" pitchFamily="18" charset="0"/>
                <a:cs typeface="Times New Roman" panose="02020603050405020304" pitchFamily="18" charset="0"/>
              </a:rPr>
              <a:t>The feature-retention chart confirms that nearly all categories retain predictive power. </a:t>
            </a:r>
          </a:p>
          <a:p>
            <a:pPr marL="285750" indent="-285750" algn="just">
              <a:buFont typeface="Arial" panose="020B0604020202020204" pitchFamily="34" charset="0"/>
              <a:buChar char="•"/>
            </a:pPr>
            <a:r>
              <a:rPr lang="en-US" altLang="zh-CN" sz="2000">
                <a:latin typeface="Times New Roman" panose="02020603050405020304" pitchFamily="18" charset="0"/>
                <a:cs typeface="Times New Roman" panose="02020603050405020304" pitchFamily="18" charset="0"/>
              </a:rPr>
              <a:t>The lower panels show the predicted versus actual values and coefficient distribution, highlighting that 48 features remain non-zero after penalization, simplifying the model while maintaining accuracy.</a:t>
            </a:r>
          </a:p>
        </p:txBody>
      </p:sp>
      <p:sp>
        <p:nvSpPr>
          <p:cNvPr id="4" name="文本框 3">
            <a:extLst>
              <a:ext uri="{FF2B5EF4-FFF2-40B4-BE49-F238E27FC236}">
                <a16:creationId xmlns:a16="http://schemas.microsoft.com/office/drawing/2014/main" id="{6C5D6FE5-7F05-2EBF-BA5F-7D4CBD49E435}"/>
              </a:ext>
            </a:extLst>
          </p:cNvPr>
          <p:cNvSpPr txBox="1"/>
          <p:nvPr/>
        </p:nvSpPr>
        <p:spPr>
          <a:xfrm>
            <a:off x="643921" y="5853169"/>
            <a:ext cx="5015325" cy="400110"/>
          </a:xfrm>
          <a:prstGeom prst="rect">
            <a:avLst/>
          </a:prstGeom>
          <a:noFill/>
        </p:spPr>
        <p:txBody>
          <a:bodyPr wrap="square" rtlCol="0">
            <a:spAutoFit/>
          </a:bodyPr>
          <a:lstStyle/>
          <a:p>
            <a:pPr algn="ctr"/>
            <a:r>
              <a:rPr lang="en-US" altLang="zh-CN" sz="2000" b="1">
                <a:latin typeface="Times New Roman" panose="02020603050405020304" pitchFamily="18" charset="0"/>
                <a:cs typeface="Times New Roman" panose="02020603050405020304" pitchFamily="18" charset="0"/>
              </a:rPr>
              <a:t>Figure 3</a:t>
            </a:r>
          </a:p>
        </p:txBody>
      </p:sp>
    </p:spTree>
    <p:extLst>
      <p:ext uri="{BB962C8B-B14F-4D97-AF65-F5344CB8AC3E}">
        <p14:creationId xmlns:p14="http://schemas.microsoft.com/office/powerpoint/2010/main" val="1329160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60955-0033-C1BE-262D-45797C02ADCC}"/>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0291D403-9F63-B135-E97B-08EBE427AD24}"/>
              </a:ext>
            </a:extLst>
          </p:cNvPr>
          <p:cNvPicPr>
            <a:picLocks noGrp="1" noRot="1" noMove="1" noResize="1" noEditPoints="1" noAdjustHandles="1" noChangeArrowheads="1" noChangeShapeType="1" noCrop="1"/>
          </p:cNvPicPr>
          <p:nvPr/>
        </p:nvPicPr>
        <p:blipFill>
          <a:blip r:embed="rId2"/>
          <a:srcRect l="9010"/>
          <a:stretch>
            <a:fillRect/>
          </a:stretch>
        </p:blipFill>
        <p:spPr>
          <a:xfrm>
            <a:off x="0" y="101598"/>
            <a:ext cx="3535556" cy="1752381"/>
          </a:xfrm>
          <a:prstGeom prst="rect">
            <a:avLst/>
          </a:prstGeom>
        </p:spPr>
      </p:pic>
      <p:sp>
        <p:nvSpPr>
          <p:cNvPr id="2" name="文本框 1">
            <a:extLst>
              <a:ext uri="{FF2B5EF4-FFF2-40B4-BE49-F238E27FC236}">
                <a16:creationId xmlns:a16="http://schemas.microsoft.com/office/drawing/2014/main" id="{A5C3EC9F-A265-A471-D5EF-22221E1DF02D}"/>
              </a:ext>
            </a:extLst>
          </p:cNvPr>
          <p:cNvSpPr txBox="1"/>
          <p:nvPr/>
        </p:nvSpPr>
        <p:spPr>
          <a:xfrm>
            <a:off x="613568" y="660690"/>
            <a:ext cx="10867232"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Linear Regression with Interaction</a:t>
            </a:r>
            <a:endParaRPr lang="zh-CN" altLang="en-US" sz="3600" b="1">
              <a:latin typeface="Times New Roman" panose="02020603050405020304" pitchFamily="18" charset="0"/>
              <a:cs typeface="Times New Roman" panose="02020603050405020304" pitchFamily="18" charset="0"/>
            </a:endParaRPr>
          </a:p>
        </p:txBody>
      </p:sp>
      <p:pic>
        <p:nvPicPr>
          <p:cNvPr id="14338" name="Picture 2">
            <a:extLst>
              <a:ext uri="{FF2B5EF4-FFF2-40B4-BE49-F238E27FC236}">
                <a16:creationId xmlns:a16="http://schemas.microsoft.com/office/drawing/2014/main" id="{DA38FDC6-D934-92BD-E166-29A2EF27A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62" y="1866113"/>
            <a:ext cx="5583781" cy="44561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表格 5">
            <a:extLst>
              <a:ext uri="{FF2B5EF4-FFF2-40B4-BE49-F238E27FC236}">
                <a16:creationId xmlns:a16="http://schemas.microsoft.com/office/drawing/2014/main" id="{DD10A5B3-9B9C-D32B-FC5E-46F7AB770CE8}"/>
              </a:ext>
            </a:extLst>
          </p:cNvPr>
          <p:cNvGraphicFramePr>
            <a:graphicFrameLocks noGrp="1"/>
          </p:cNvGraphicFramePr>
          <p:nvPr>
            <p:extLst>
              <p:ext uri="{D42A27DB-BD31-4B8C-83A1-F6EECF244321}">
                <p14:modId xmlns:p14="http://schemas.microsoft.com/office/powerpoint/2010/main" val="1125363212"/>
              </p:ext>
            </p:extLst>
          </p:nvPr>
        </p:nvGraphicFramePr>
        <p:xfrm>
          <a:off x="7109594" y="1538288"/>
          <a:ext cx="3660006" cy="1854200"/>
        </p:xfrm>
        <a:graphic>
          <a:graphicData uri="http://schemas.openxmlformats.org/drawingml/2006/table">
            <a:tbl>
              <a:tblPr firstRow="1" bandRow="1">
                <a:tableStyleId>{3B4B98B0-60AC-42C2-AFA5-B58CD77FA1E5}</a:tableStyleId>
              </a:tblPr>
              <a:tblGrid>
                <a:gridCol w="1868946">
                  <a:extLst>
                    <a:ext uri="{9D8B030D-6E8A-4147-A177-3AD203B41FA5}">
                      <a16:colId xmlns:a16="http://schemas.microsoft.com/office/drawing/2014/main" val="1630482925"/>
                    </a:ext>
                  </a:extLst>
                </a:gridCol>
                <a:gridCol w="830710">
                  <a:extLst>
                    <a:ext uri="{9D8B030D-6E8A-4147-A177-3AD203B41FA5}">
                      <a16:colId xmlns:a16="http://schemas.microsoft.com/office/drawing/2014/main" val="1143877207"/>
                    </a:ext>
                  </a:extLst>
                </a:gridCol>
                <a:gridCol w="960350">
                  <a:extLst>
                    <a:ext uri="{9D8B030D-6E8A-4147-A177-3AD203B41FA5}">
                      <a16:colId xmlns:a16="http://schemas.microsoft.com/office/drawing/2014/main" val="3274008283"/>
                    </a:ext>
                  </a:extLst>
                </a:gridCol>
              </a:tblGrid>
              <a:tr h="370840">
                <a:tc>
                  <a:txBody>
                    <a:bodyPr/>
                    <a:lstStyle/>
                    <a:p>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Train</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Test</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6815405"/>
                  </a:ext>
                </a:extLst>
              </a:tr>
              <a:tr h="370840">
                <a:tc>
                  <a:txBody>
                    <a:bodyPr/>
                    <a:lstStyle/>
                    <a:p>
                      <a:r>
                        <a:rPr lang="en-US" altLang="zh-CN">
                          <a:latin typeface="Times New Roman" panose="02020603050405020304" pitchFamily="18" charset="0"/>
                          <a:cs typeface="Times New Roman" panose="02020603050405020304" pitchFamily="18" charset="0"/>
                        </a:rPr>
                        <a:t>RMSE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0.4551</a:t>
                      </a:r>
                    </a:p>
                  </a:txBody>
                  <a:tcPr/>
                </a:tc>
                <a:tc>
                  <a:txBody>
                    <a:bodyPr/>
                    <a:lstStyle/>
                    <a:p>
                      <a:r>
                        <a:rPr lang="zh-CN" altLang="en-US">
                          <a:latin typeface="Times New Roman" panose="02020603050405020304" pitchFamily="18" charset="0"/>
                          <a:cs typeface="Times New Roman" panose="02020603050405020304" pitchFamily="18" charset="0"/>
                        </a:rPr>
                        <a:t>0.4531</a:t>
                      </a:r>
                    </a:p>
                  </a:txBody>
                  <a:tcPr/>
                </a:tc>
                <a:extLst>
                  <a:ext uri="{0D108BD9-81ED-4DB2-BD59-A6C34878D82A}">
                    <a16:rowId xmlns:a16="http://schemas.microsoft.com/office/drawing/2014/main" val="152028563"/>
                  </a:ext>
                </a:extLst>
              </a:tr>
              <a:tr h="370840">
                <a:tc>
                  <a:txBody>
                    <a:bodyPr/>
                    <a:lstStyle/>
                    <a:p>
                      <a:r>
                        <a:rPr lang="en-US" altLang="zh-CN">
                          <a:latin typeface="Times New Roman" panose="02020603050405020304" pitchFamily="18" charset="0"/>
                          <a:cs typeface="Times New Roman" panose="02020603050405020304" pitchFamily="18" charset="0"/>
                        </a:rPr>
                        <a:t>R-square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0.5977</a:t>
                      </a:r>
                    </a:p>
                  </a:txBody>
                  <a:tcPr/>
                </a:tc>
                <a:tc>
                  <a:txBody>
                    <a:bodyPr/>
                    <a:lstStyle/>
                    <a:p>
                      <a:r>
                        <a:rPr lang="zh-CN" altLang="en-US">
                          <a:latin typeface="Times New Roman" panose="02020603050405020304" pitchFamily="18" charset="0"/>
                          <a:cs typeface="Times New Roman" panose="02020603050405020304" pitchFamily="18" charset="0"/>
                        </a:rPr>
                        <a:t>0.6003</a:t>
                      </a:r>
                    </a:p>
                  </a:txBody>
                  <a:tcPr/>
                </a:tc>
                <a:extLst>
                  <a:ext uri="{0D108BD9-81ED-4DB2-BD59-A6C34878D82A}">
                    <a16:rowId xmlns:a16="http://schemas.microsoft.com/office/drawing/2014/main" val="2444114889"/>
                  </a:ext>
                </a:extLst>
              </a:tr>
              <a:tr h="370840">
                <a:tc>
                  <a:txBody>
                    <a:bodyPr/>
                    <a:lstStyle/>
                    <a:p>
                      <a:r>
                        <a:rPr lang="en-US" altLang="zh-CN" sz="1800">
                          <a:latin typeface="Times New Roman" panose="02020603050405020304" pitchFamily="18" charset="0"/>
                          <a:cs typeface="Times New Roman" panose="02020603050405020304" pitchFamily="18" charset="0"/>
                        </a:rPr>
                        <a:t>MAE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0.3410</a:t>
                      </a:r>
                    </a:p>
                  </a:txBody>
                  <a:tcPr/>
                </a:tc>
                <a:tc>
                  <a:txBody>
                    <a:bodyPr/>
                    <a:lstStyle/>
                    <a:p>
                      <a:r>
                        <a:rPr lang="zh-CN" altLang="en-US">
                          <a:latin typeface="Times New Roman" panose="02020603050405020304" pitchFamily="18" charset="0"/>
                          <a:cs typeface="Times New Roman" panose="02020603050405020304" pitchFamily="18" charset="0"/>
                        </a:rPr>
                        <a:t>0.3398</a:t>
                      </a:r>
                    </a:p>
                  </a:txBody>
                  <a:tcPr/>
                </a:tc>
                <a:extLst>
                  <a:ext uri="{0D108BD9-81ED-4DB2-BD59-A6C34878D82A}">
                    <a16:rowId xmlns:a16="http://schemas.microsoft.com/office/drawing/2014/main" val="2072481744"/>
                  </a:ext>
                </a:extLst>
              </a:tr>
              <a:tr h="370840">
                <a:tc>
                  <a:txBody>
                    <a:bodyPr/>
                    <a:lstStyle/>
                    <a:p>
                      <a:r>
                        <a:rPr lang="en-US" altLang="zh-CN">
                          <a:latin typeface="Times New Roman" panose="02020603050405020304" pitchFamily="18" charset="0"/>
                          <a:cs typeface="Times New Roman" panose="02020603050405020304" pitchFamily="18" charset="0"/>
                        </a:rPr>
                        <a:t>5-fold CV RMSE</a:t>
                      </a:r>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zh-CN" altLang="en-US">
                          <a:latin typeface="Times New Roman" panose="02020603050405020304" pitchFamily="18" charset="0"/>
                          <a:cs typeface="Times New Roman" panose="02020603050405020304" pitchFamily="18" charset="0"/>
                        </a:rPr>
                        <a:t>0.4559</a:t>
                      </a:r>
                    </a:p>
                  </a:txBody>
                  <a:tcPr/>
                </a:tc>
                <a:tc hMerge="1">
                  <a:txBody>
                    <a:bodyPr/>
                    <a:lstStyle/>
                    <a:p>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142268"/>
                  </a:ext>
                </a:extLst>
              </a:tr>
            </a:tbl>
          </a:graphicData>
        </a:graphic>
      </p:graphicFrame>
      <p:sp>
        <p:nvSpPr>
          <p:cNvPr id="13" name="文本框 12">
            <a:extLst>
              <a:ext uri="{FF2B5EF4-FFF2-40B4-BE49-F238E27FC236}">
                <a16:creationId xmlns:a16="http://schemas.microsoft.com/office/drawing/2014/main" id="{BC101120-5CFE-E64F-B404-A2B3C5BEAE93}"/>
              </a:ext>
            </a:extLst>
          </p:cNvPr>
          <p:cNvSpPr txBox="1"/>
          <p:nvPr/>
        </p:nvSpPr>
        <p:spPr>
          <a:xfrm>
            <a:off x="6009084" y="3465513"/>
            <a:ext cx="6096000" cy="3139321"/>
          </a:xfrm>
          <a:prstGeom prst="rect">
            <a:avLst/>
          </a:prstGeom>
          <a:noFill/>
        </p:spPr>
        <p:txBody>
          <a:bodyPr wrap="square">
            <a:spAutoFit/>
          </a:bodyPr>
          <a:lstStyle/>
          <a:p>
            <a:pPr marL="285750" indent="-285750">
              <a:buFont typeface="Arial" panose="020B0604020202020204" pitchFamily="34" charset="0"/>
              <a:buChar char="•"/>
            </a:pPr>
            <a:r>
              <a:rPr lang="en-US" altLang="zh-CN" sz="1800" b="0" i="0" u="none" strike="noStrike">
                <a:solidFill>
                  <a:srgbClr val="000000"/>
                </a:solidFill>
                <a:effectLst/>
                <a:latin typeface="Times New Roman" panose="02020603050405020304" pitchFamily="18" charset="0"/>
              </a:rPr>
              <a:t>For private room types, the marginal price increase from adding a bathroom is relatively low, indicating that guests' price expectations for private rooms do not overly depend on hardware configurations, but may place greater emphasis on factors such as occupancy capacity and cost-effectiveness.</a:t>
            </a:r>
          </a:p>
          <a:p>
            <a:pPr marL="285750" indent="-285750">
              <a:buFont typeface="Arial" panose="020B0604020202020204" pitchFamily="34" charset="0"/>
              <a:buChar char="•"/>
            </a:pPr>
            <a:r>
              <a:rPr lang="en-US" altLang="zh-CN" sz="1800" b="0" i="0" u="none" strike="noStrike">
                <a:solidFill>
                  <a:srgbClr val="000000"/>
                </a:solidFill>
                <a:effectLst/>
                <a:latin typeface="Times New Roman" panose="02020603050405020304" pitchFamily="18" charset="0"/>
              </a:rPr>
              <a:t>In the interaction between cities and amenities, both Los Angeles and Washington, D.C. exhibit negative interaction coefficients with air conditioning. This suggests that in these cities, providing air conditioning is no longer considered a premium feature but rather a “basic standard,” leading to saturated or even negative marginal contributions to price.</a:t>
            </a:r>
            <a:endParaRPr lang="zh-CN" altLang="en-US"/>
          </a:p>
        </p:txBody>
      </p:sp>
    </p:spTree>
    <p:extLst>
      <p:ext uri="{BB962C8B-B14F-4D97-AF65-F5344CB8AC3E}">
        <p14:creationId xmlns:p14="http://schemas.microsoft.com/office/powerpoint/2010/main" val="214599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B7F0-F323-569E-0C41-11847B2ACC5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BFD7F85-CB93-8332-0618-B02015BC9609}"/>
              </a:ext>
            </a:extLst>
          </p:cNvPr>
          <p:cNvPicPr>
            <a:picLocks noGrp="1" noRot="1" noMove="1" noResize="1" noEditPoints="1" noAdjustHandles="1" noChangeArrowheads="1" noChangeShapeType="1" noCrop="1"/>
          </p:cNvPicPr>
          <p:nvPr/>
        </p:nvPicPr>
        <p:blipFill>
          <a:blip r:embed="rId2"/>
          <a:srcRect l="9010"/>
          <a:stretch>
            <a:fillRect/>
          </a:stretch>
        </p:blipFill>
        <p:spPr>
          <a:xfrm>
            <a:off x="0" y="101598"/>
            <a:ext cx="3535556" cy="1752381"/>
          </a:xfrm>
          <a:prstGeom prst="rect">
            <a:avLst/>
          </a:prstGeom>
        </p:spPr>
      </p:pic>
      <p:sp>
        <p:nvSpPr>
          <p:cNvPr id="2" name="文本框 1">
            <a:extLst>
              <a:ext uri="{FF2B5EF4-FFF2-40B4-BE49-F238E27FC236}">
                <a16:creationId xmlns:a16="http://schemas.microsoft.com/office/drawing/2014/main" id="{9E63804D-0C91-83AF-B799-816BD16219FB}"/>
              </a:ext>
            </a:extLst>
          </p:cNvPr>
          <p:cNvSpPr txBox="1"/>
          <p:nvPr/>
        </p:nvSpPr>
        <p:spPr>
          <a:xfrm>
            <a:off x="613568" y="660690"/>
            <a:ext cx="10867232"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Random Forest</a:t>
            </a:r>
            <a:endParaRPr lang="zh-CN" altLang="en-US" sz="3600" b="1">
              <a:latin typeface="Times New Roman" panose="02020603050405020304" pitchFamily="18" charset="0"/>
              <a:cs typeface="Times New Roman" panose="02020603050405020304" pitchFamily="18" charset="0"/>
            </a:endParaRPr>
          </a:p>
        </p:txBody>
      </p:sp>
      <p:pic>
        <p:nvPicPr>
          <p:cNvPr id="16386" name="Picture 2">
            <a:extLst>
              <a:ext uri="{FF2B5EF4-FFF2-40B4-BE49-F238E27FC236}">
                <a16:creationId xmlns:a16="http://schemas.microsoft.com/office/drawing/2014/main" id="{2EBB3C1B-6E7A-3870-2A51-60BD05D1C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388" y="750398"/>
            <a:ext cx="5951612" cy="39553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表格 8">
            <a:extLst>
              <a:ext uri="{FF2B5EF4-FFF2-40B4-BE49-F238E27FC236}">
                <a16:creationId xmlns:a16="http://schemas.microsoft.com/office/drawing/2014/main" id="{6B29EDE1-A4FD-E5F2-E817-3BA18F4BBDDE}"/>
              </a:ext>
            </a:extLst>
          </p:cNvPr>
          <p:cNvGraphicFramePr>
            <a:graphicFrameLocks noGrp="1"/>
          </p:cNvGraphicFramePr>
          <p:nvPr>
            <p:extLst>
              <p:ext uri="{D42A27DB-BD31-4B8C-83A1-F6EECF244321}">
                <p14:modId xmlns:p14="http://schemas.microsoft.com/office/powerpoint/2010/main" val="3563946718"/>
              </p:ext>
            </p:extLst>
          </p:nvPr>
        </p:nvGraphicFramePr>
        <p:xfrm>
          <a:off x="613568" y="1340597"/>
          <a:ext cx="3660006" cy="1854200"/>
        </p:xfrm>
        <a:graphic>
          <a:graphicData uri="http://schemas.openxmlformats.org/drawingml/2006/table">
            <a:tbl>
              <a:tblPr firstRow="1" bandRow="1">
                <a:tableStyleId>{3B4B98B0-60AC-42C2-AFA5-B58CD77FA1E5}</a:tableStyleId>
              </a:tblPr>
              <a:tblGrid>
                <a:gridCol w="1868946">
                  <a:extLst>
                    <a:ext uri="{9D8B030D-6E8A-4147-A177-3AD203B41FA5}">
                      <a16:colId xmlns:a16="http://schemas.microsoft.com/office/drawing/2014/main" val="1630482925"/>
                    </a:ext>
                  </a:extLst>
                </a:gridCol>
                <a:gridCol w="830710">
                  <a:extLst>
                    <a:ext uri="{9D8B030D-6E8A-4147-A177-3AD203B41FA5}">
                      <a16:colId xmlns:a16="http://schemas.microsoft.com/office/drawing/2014/main" val="1143877207"/>
                    </a:ext>
                  </a:extLst>
                </a:gridCol>
                <a:gridCol w="960350">
                  <a:extLst>
                    <a:ext uri="{9D8B030D-6E8A-4147-A177-3AD203B41FA5}">
                      <a16:colId xmlns:a16="http://schemas.microsoft.com/office/drawing/2014/main" val="3274008283"/>
                    </a:ext>
                  </a:extLst>
                </a:gridCol>
              </a:tblGrid>
              <a:tr h="370840">
                <a:tc>
                  <a:txBody>
                    <a:bodyPr/>
                    <a:lstStyle/>
                    <a:p>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Train</a:t>
                      </a:r>
                      <a:endParaRPr lang="zh-CN" altLang="en-US">
                        <a:latin typeface="Times New Roman" panose="02020603050405020304" pitchFamily="18" charset="0"/>
                        <a:cs typeface="Times New Roman" panose="02020603050405020304" pitchFamily="18" charset="0"/>
                      </a:endParaRPr>
                    </a:p>
                  </a:txBody>
                  <a:tcPr/>
                </a:tc>
                <a:tc>
                  <a:txBody>
                    <a:bodyPr/>
                    <a:lstStyle/>
                    <a:p>
                      <a:r>
                        <a:rPr lang="en-US" altLang="zh-CN">
                          <a:latin typeface="Times New Roman" panose="02020603050405020304" pitchFamily="18" charset="0"/>
                          <a:cs typeface="Times New Roman" panose="02020603050405020304" pitchFamily="18" charset="0"/>
                        </a:rPr>
                        <a:t>Test</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6815405"/>
                  </a:ext>
                </a:extLst>
              </a:tr>
              <a:tr h="370840">
                <a:tc>
                  <a:txBody>
                    <a:bodyPr/>
                    <a:lstStyle/>
                    <a:p>
                      <a:r>
                        <a:rPr lang="en-US" altLang="zh-CN">
                          <a:latin typeface="Times New Roman" panose="02020603050405020304" pitchFamily="18" charset="0"/>
                          <a:cs typeface="Times New Roman" panose="02020603050405020304" pitchFamily="18" charset="0"/>
                        </a:rPr>
                        <a:t>RMSE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0.2731</a:t>
                      </a:r>
                    </a:p>
                  </a:txBody>
                  <a:tcPr/>
                </a:tc>
                <a:tc>
                  <a:txBody>
                    <a:bodyPr/>
                    <a:lstStyle/>
                    <a:p>
                      <a:r>
                        <a:rPr lang="zh-CN" altLang="en-US">
                          <a:latin typeface="Times New Roman" panose="02020603050405020304" pitchFamily="18" charset="0"/>
                          <a:cs typeface="Times New Roman" panose="02020603050405020304" pitchFamily="18" charset="0"/>
                        </a:rPr>
                        <a:t>0.4007</a:t>
                      </a:r>
                    </a:p>
                  </a:txBody>
                  <a:tcPr/>
                </a:tc>
                <a:extLst>
                  <a:ext uri="{0D108BD9-81ED-4DB2-BD59-A6C34878D82A}">
                    <a16:rowId xmlns:a16="http://schemas.microsoft.com/office/drawing/2014/main" val="152028563"/>
                  </a:ext>
                </a:extLst>
              </a:tr>
              <a:tr h="370840">
                <a:tc>
                  <a:txBody>
                    <a:bodyPr/>
                    <a:lstStyle/>
                    <a:p>
                      <a:r>
                        <a:rPr lang="en-US" altLang="zh-CN">
                          <a:latin typeface="Times New Roman" panose="02020603050405020304" pitchFamily="18" charset="0"/>
                          <a:cs typeface="Times New Roman" panose="02020603050405020304" pitchFamily="18" charset="0"/>
                        </a:rPr>
                        <a:t>R-square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0.8552</a:t>
                      </a:r>
                    </a:p>
                  </a:txBody>
                  <a:tcPr/>
                </a:tc>
                <a:tc>
                  <a:txBody>
                    <a:bodyPr/>
                    <a:lstStyle/>
                    <a:p>
                      <a:r>
                        <a:rPr lang="zh-CN" altLang="en-US">
                          <a:latin typeface="Times New Roman" panose="02020603050405020304" pitchFamily="18" charset="0"/>
                          <a:cs typeface="Times New Roman" panose="02020603050405020304" pitchFamily="18" charset="0"/>
                        </a:rPr>
                        <a:t>0.6875</a:t>
                      </a:r>
                    </a:p>
                  </a:txBody>
                  <a:tcPr/>
                </a:tc>
                <a:extLst>
                  <a:ext uri="{0D108BD9-81ED-4DB2-BD59-A6C34878D82A}">
                    <a16:rowId xmlns:a16="http://schemas.microsoft.com/office/drawing/2014/main" val="2444114889"/>
                  </a:ext>
                </a:extLst>
              </a:tr>
              <a:tr h="370840">
                <a:tc>
                  <a:txBody>
                    <a:bodyPr/>
                    <a:lstStyle/>
                    <a:p>
                      <a:r>
                        <a:rPr lang="en-US" altLang="zh-CN" sz="1800">
                          <a:latin typeface="Times New Roman" panose="02020603050405020304" pitchFamily="18" charset="0"/>
                          <a:cs typeface="Times New Roman" panose="02020603050405020304" pitchFamily="18" charset="0"/>
                        </a:rPr>
                        <a:t>MAE</a:t>
                      </a:r>
                      <a:endParaRPr lang="zh-CN" altLang="en-US">
                        <a:latin typeface="Times New Roman" panose="02020603050405020304" pitchFamily="18" charset="0"/>
                        <a:cs typeface="Times New Roman" panose="02020603050405020304" pitchFamily="18" charset="0"/>
                      </a:endParaRPr>
                    </a:p>
                  </a:txBody>
                  <a:tcPr/>
                </a:tc>
                <a:tc>
                  <a:txBody>
                    <a:bodyPr/>
                    <a:lstStyle/>
                    <a:p>
                      <a:r>
                        <a:rPr lang="zh-CN" altLang="en-US">
                          <a:latin typeface="Times New Roman" panose="02020603050405020304" pitchFamily="18" charset="0"/>
                          <a:cs typeface="Times New Roman" panose="02020603050405020304" pitchFamily="18" charset="0"/>
                        </a:rPr>
                        <a:t>0.1979</a:t>
                      </a:r>
                    </a:p>
                  </a:txBody>
                  <a:tcPr/>
                </a:tc>
                <a:tc>
                  <a:txBody>
                    <a:bodyPr/>
                    <a:lstStyle/>
                    <a:p>
                      <a:r>
                        <a:rPr lang="zh-CN" altLang="en-US">
                          <a:latin typeface="Times New Roman" panose="02020603050405020304" pitchFamily="18" charset="0"/>
                          <a:cs typeface="Times New Roman" panose="02020603050405020304" pitchFamily="18" charset="0"/>
                        </a:rPr>
                        <a:t>0.2916</a:t>
                      </a:r>
                    </a:p>
                  </a:txBody>
                  <a:tcPr/>
                </a:tc>
                <a:extLst>
                  <a:ext uri="{0D108BD9-81ED-4DB2-BD59-A6C34878D82A}">
                    <a16:rowId xmlns:a16="http://schemas.microsoft.com/office/drawing/2014/main" val="2072481744"/>
                  </a:ext>
                </a:extLst>
              </a:tr>
              <a:tr h="370840">
                <a:tc>
                  <a:txBody>
                    <a:bodyPr/>
                    <a:lstStyle/>
                    <a:p>
                      <a:r>
                        <a:rPr lang="en-US" altLang="zh-CN">
                          <a:latin typeface="Times New Roman" panose="02020603050405020304" pitchFamily="18" charset="0"/>
                          <a:cs typeface="Times New Roman" panose="02020603050405020304" pitchFamily="18" charset="0"/>
                        </a:rPr>
                        <a:t>5-fold CV RMSE</a:t>
                      </a:r>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zh-CN" altLang="en-US">
                          <a:latin typeface="Times New Roman" panose="02020603050405020304" pitchFamily="18" charset="0"/>
                          <a:cs typeface="Times New Roman" panose="02020603050405020304" pitchFamily="18" charset="0"/>
                        </a:rPr>
                        <a:t>0.4024</a:t>
                      </a:r>
                    </a:p>
                  </a:txBody>
                  <a:tcPr/>
                </a:tc>
                <a:tc hMerge="1">
                  <a:txBody>
                    <a:bodyPr/>
                    <a:lstStyle/>
                    <a:p>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142268"/>
                  </a:ext>
                </a:extLst>
              </a:tr>
            </a:tbl>
          </a:graphicData>
        </a:graphic>
      </p:graphicFrame>
      <p:sp>
        <p:nvSpPr>
          <p:cNvPr id="10" name="文本框 9">
            <a:extLst>
              <a:ext uri="{FF2B5EF4-FFF2-40B4-BE49-F238E27FC236}">
                <a16:creationId xmlns:a16="http://schemas.microsoft.com/office/drawing/2014/main" id="{85B3D6F5-0F90-3AC6-FAFF-A6CC79305EB6}"/>
              </a:ext>
            </a:extLst>
          </p:cNvPr>
          <p:cNvSpPr txBox="1"/>
          <p:nvPr/>
        </p:nvSpPr>
        <p:spPr>
          <a:xfrm>
            <a:off x="511968" y="3228373"/>
            <a:ext cx="5161147" cy="1477328"/>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Compared to three linear models, random forests demonstrate greater interpretability, indicating the presence of substantial nonlinear structures and complex interactions that linear models struggle to fully capture.</a:t>
            </a:r>
            <a:endParaRPr lang="zh-CN" altLang="en-US">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93A419E0-C1C6-FA21-258C-93750055F207}"/>
              </a:ext>
            </a:extLst>
          </p:cNvPr>
          <p:cNvSpPr txBox="1"/>
          <p:nvPr/>
        </p:nvSpPr>
        <p:spPr>
          <a:xfrm>
            <a:off x="511968" y="4917238"/>
            <a:ext cx="11108533"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The model once again confirms that “room type” and “property capacity” are key determinants of price.</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Location also demonstrates significant importance, indicating its impact on pricing.</a:t>
            </a:r>
          </a:p>
          <a:p>
            <a:pPr marL="285750" indent="-285750">
              <a:buFont typeface="Arial" panose="020B0604020202020204" pitchFamily="34" charset="0"/>
              <a:buChar char="•"/>
            </a:pPr>
            <a:r>
              <a:rPr lang="en-US" altLang="zh-CN">
                <a:latin typeface="Times New Roman" panose="02020603050405020304" pitchFamily="18" charset="0"/>
                <a:cs typeface="Times New Roman" panose="02020603050405020304" pitchFamily="18" charset="0"/>
              </a:rPr>
              <a:t>Amenities such as “TV,” “dryer,” and “elevator” rank within the top 20 factors, further highlighting customers' emphasis on supplementary facilities and their willingness to pay a premium for them.</a:t>
            </a: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6834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68468-A6C1-2049-A40D-9921FDB6092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BEF0193-2F36-B41F-EBD3-6F71EBE11CD8}"/>
              </a:ext>
            </a:extLst>
          </p:cNvPr>
          <p:cNvPicPr>
            <a:picLocks noGrp="1" noRo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2" name="文本框 1">
            <a:extLst>
              <a:ext uri="{FF2B5EF4-FFF2-40B4-BE49-F238E27FC236}">
                <a16:creationId xmlns:a16="http://schemas.microsoft.com/office/drawing/2014/main" id="{C5C5DA25-3C36-35F8-FFE0-86018AC1B9EA}"/>
              </a:ext>
            </a:extLst>
          </p:cNvPr>
          <p:cNvSpPr txBox="1"/>
          <p:nvPr/>
        </p:nvSpPr>
        <p:spPr>
          <a:xfrm>
            <a:off x="613568" y="660690"/>
            <a:ext cx="10867232" cy="646331"/>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rPr>
              <a:t>Modeling – Random Forest</a:t>
            </a:r>
            <a:endParaRPr lang="zh-CN" altLang="en-US" sz="3600" b="1">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F0B66DDC-2700-2FE2-CD47-6814A1721293}"/>
              </a:ext>
            </a:extLst>
          </p:cNvPr>
          <p:cNvGraphicFramePr>
            <a:graphicFrameLocks noGrp="1"/>
          </p:cNvGraphicFramePr>
          <p:nvPr>
            <p:extLst>
              <p:ext uri="{D42A27DB-BD31-4B8C-83A1-F6EECF244321}">
                <p14:modId xmlns:p14="http://schemas.microsoft.com/office/powerpoint/2010/main" val="26841138"/>
              </p:ext>
            </p:extLst>
          </p:nvPr>
        </p:nvGraphicFramePr>
        <p:xfrm>
          <a:off x="613568" y="1523779"/>
          <a:ext cx="5234879" cy="1854200"/>
        </p:xfrm>
        <a:graphic>
          <a:graphicData uri="http://schemas.openxmlformats.org/drawingml/2006/table">
            <a:tbl>
              <a:tblPr firstRow="1" bandRow="1">
                <a:tableStyleId>{3B4B98B0-60AC-42C2-AFA5-B58CD77FA1E5}</a:tableStyleId>
              </a:tblPr>
              <a:tblGrid>
                <a:gridCol w="2219041">
                  <a:extLst>
                    <a:ext uri="{9D8B030D-6E8A-4147-A177-3AD203B41FA5}">
                      <a16:colId xmlns:a16="http://schemas.microsoft.com/office/drawing/2014/main" val="1630482925"/>
                    </a:ext>
                  </a:extLst>
                </a:gridCol>
                <a:gridCol w="1507919">
                  <a:extLst>
                    <a:ext uri="{9D8B030D-6E8A-4147-A177-3AD203B41FA5}">
                      <a16:colId xmlns:a16="http://schemas.microsoft.com/office/drawing/2014/main" val="1143877207"/>
                    </a:ext>
                  </a:extLst>
                </a:gridCol>
                <a:gridCol w="134339">
                  <a:extLst>
                    <a:ext uri="{9D8B030D-6E8A-4147-A177-3AD203B41FA5}">
                      <a16:colId xmlns:a16="http://schemas.microsoft.com/office/drawing/2014/main" val="1891390828"/>
                    </a:ext>
                  </a:extLst>
                </a:gridCol>
                <a:gridCol w="1373580">
                  <a:extLst>
                    <a:ext uri="{9D8B030D-6E8A-4147-A177-3AD203B41FA5}">
                      <a16:colId xmlns:a16="http://schemas.microsoft.com/office/drawing/2014/main" val="3274008283"/>
                    </a:ext>
                  </a:extLst>
                </a:gridCol>
              </a:tblGrid>
              <a:tr h="370840">
                <a:tc>
                  <a:txBody>
                    <a:bodyPr/>
                    <a:lstStyle/>
                    <a:p>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en-US" altLang="zh-CN">
                          <a:latin typeface="Times New Roman" panose="02020603050405020304" pitchFamily="18" charset="0"/>
                          <a:cs typeface="Times New Roman" panose="02020603050405020304" pitchFamily="18" charset="0"/>
                        </a:rPr>
                        <a:t>Undervalued</a:t>
                      </a:r>
                      <a:endParaRPr lang="zh-CN" altLang="en-US">
                        <a:latin typeface="Times New Roman" panose="02020603050405020304" pitchFamily="18" charset="0"/>
                        <a:cs typeface="Times New Roman" panose="02020603050405020304" pitchFamily="18" charset="0"/>
                      </a:endParaRPr>
                    </a:p>
                  </a:txBody>
                  <a:tcPr/>
                </a:tc>
                <a:tc hMerge="1">
                  <a:txBody>
                    <a:bodyPr/>
                    <a:lstStyle/>
                    <a:p>
                      <a:endParaRPr lang="zh-CN" altLang="en-US"/>
                    </a:p>
                  </a:txBody>
                  <a:tcPr/>
                </a:tc>
                <a:tc>
                  <a:txBody>
                    <a:bodyPr/>
                    <a:lstStyle/>
                    <a:p>
                      <a:r>
                        <a:rPr lang="en-US" altLang="zh-CN">
                          <a:latin typeface="Times New Roman" panose="02020603050405020304" pitchFamily="18" charset="0"/>
                          <a:cs typeface="Times New Roman" panose="02020603050405020304" pitchFamily="18" charset="0"/>
                        </a:rPr>
                        <a:t>Overvalued</a:t>
                      </a:r>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6815405"/>
                  </a:ext>
                </a:extLst>
              </a:tr>
              <a:tr h="370840">
                <a:tc>
                  <a:txBody>
                    <a:bodyPr/>
                    <a:lstStyle/>
                    <a:p>
                      <a:r>
                        <a:rPr lang="en-US" altLang="zh-CN">
                          <a:latin typeface="Times New Roman" panose="02020603050405020304" pitchFamily="18" charset="0"/>
                          <a:cs typeface="Times New Roman" panose="02020603050405020304" pitchFamily="18" charset="0"/>
                        </a:rPr>
                        <a:t>Count</a:t>
                      </a:r>
                      <a:endParaRPr lang="zh-CN" altLang="en-US">
                        <a:latin typeface="Times New Roman" panose="02020603050405020304" pitchFamily="18" charset="0"/>
                        <a:cs typeface="Times New Roman" panose="02020603050405020304" pitchFamily="18" charset="0"/>
                      </a:endParaRPr>
                    </a:p>
                  </a:txBody>
                  <a:tcPr/>
                </a:tc>
                <a:tc gridSpan="2">
                  <a:txBody>
                    <a:bodyPr/>
                    <a:lstStyle/>
                    <a:p>
                      <a:r>
                        <a:rPr lang="zh-CN" altLang="en-US">
                          <a:latin typeface="Times New Roman" panose="02020603050405020304" pitchFamily="18" charset="0"/>
                          <a:cs typeface="Times New Roman" panose="02020603050405020304" pitchFamily="18" charset="0"/>
                        </a:rPr>
                        <a:t>1483</a:t>
                      </a:r>
                    </a:p>
                  </a:txBody>
                  <a:tcPr/>
                </a:tc>
                <a:tc hMerge="1">
                  <a:txBody>
                    <a:bodyPr/>
                    <a:lstStyle/>
                    <a:p>
                      <a:endParaRPr lang="zh-CN" altLang="en-US"/>
                    </a:p>
                  </a:txBody>
                  <a:tcPr/>
                </a:tc>
                <a:tc>
                  <a:txBody>
                    <a:bodyPr/>
                    <a:lstStyle/>
                    <a:p>
                      <a:r>
                        <a:rPr lang="zh-CN" altLang="en-US">
                          <a:latin typeface="Times New Roman" panose="02020603050405020304" pitchFamily="18" charset="0"/>
                          <a:cs typeface="Times New Roman" panose="02020603050405020304" pitchFamily="18" charset="0"/>
                        </a:rPr>
                        <a:t>1483</a:t>
                      </a:r>
                    </a:p>
                  </a:txBody>
                  <a:tcPr/>
                </a:tc>
                <a:extLst>
                  <a:ext uri="{0D108BD9-81ED-4DB2-BD59-A6C34878D82A}">
                    <a16:rowId xmlns:a16="http://schemas.microsoft.com/office/drawing/2014/main" val="152028563"/>
                  </a:ext>
                </a:extLst>
              </a:tr>
              <a:tr h="370840">
                <a:tc>
                  <a:txBody>
                    <a:bodyPr/>
                    <a:lstStyle/>
                    <a:p>
                      <a:r>
                        <a:rPr lang="zh-CN" altLang="en-US">
                          <a:latin typeface="Times New Roman" panose="02020603050405020304" pitchFamily="18" charset="0"/>
                          <a:cs typeface="Times New Roman" panose="02020603050405020304" pitchFamily="18" charset="0"/>
                        </a:rPr>
                        <a:t>Avg Actual Price</a:t>
                      </a:r>
                    </a:p>
                  </a:txBody>
                  <a:tcPr/>
                </a:tc>
                <a:tc gridSpan="2">
                  <a:txBody>
                    <a:bodyPr/>
                    <a:lstStyle/>
                    <a:p>
                      <a:r>
                        <a:rPr lang="zh-CN" altLang="en-US">
                          <a:latin typeface="Times New Roman" panose="02020603050405020304" pitchFamily="18" charset="0"/>
                          <a:cs typeface="Times New Roman" panose="02020603050405020304" pitchFamily="18" charset="0"/>
                        </a:rPr>
                        <a:t>$74.15</a:t>
                      </a:r>
                    </a:p>
                  </a:txBody>
                  <a:tcPr/>
                </a:tc>
                <a:tc hMerge="1">
                  <a:txBody>
                    <a:bodyPr/>
                    <a:lstStyle/>
                    <a:p>
                      <a:endParaRPr lang="zh-CN" altLang="en-US"/>
                    </a:p>
                  </a:txBody>
                  <a:tcPr/>
                </a:tc>
                <a:tc>
                  <a:txBody>
                    <a:bodyPr/>
                    <a:lstStyle/>
                    <a:p>
                      <a:r>
                        <a:rPr lang="zh-CN" altLang="en-US">
                          <a:latin typeface="Times New Roman" panose="02020603050405020304" pitchFamily="18" charset="0"/>
                          <a:cs typeface="Times New Roman" panose="02020603050405020304" pitchFamily="18" charset="0"/>
                        </a:rPr>
                        <a:t>$429.17</a:t>
                      </a:r>
                    </a:p>
                  </a:txBody>
                  <a:tcPr/>
                </a:tc>
                <a:extLst>
                  <a:ext uri="{0D108BD9-81ED-4DB2-BD59-A6C34878D82A}">
                    <a16:rowId xmlns:a16="http://schemas.microsoft.com/office/drawing/2014/main" val="2444114889"/>
                  </a:ext>
                </a:extLst>
              </a:tr>
              <a:tr h="370840">
                <a:tc>
                  <a:txBody>
                    <a:bodyPr/>
                    <a:lstStyle/>
                    <a:p>
                      <a:r>
                        <a:rPr lang="zh-CN" altLang="en-US">
                          <a:latin typeface="Times New Roman" panose="02020603050405020304" pitchFamily="18" charset="0"/>
                          <a:cs typeface="Times New Roman" panose="02020603050405020304" pitchFamily="18" charset="0"/>
                        </a:rPr>
                        <a:t>Avg Predicted Price</a:t>
                      </a:r>
                    </a:p>
                  </a:txBody>
                  <a:tcPr/>
                </a:tc>
                <a:tc gridSpan="2">
                  <a:txBody>
                    <a:bodyPr/>
                    <a:lstStyle/>
                    <a:p>
                      <a:r>
                        <a:rPr lang="zh-CN" altLang="en-US">
                          <a:latin typeface="Times New Roman" panose="02020603050405020304" pitchFamily="18" charset="0"/>
                          <a:cs typeface="Times New Roman" panose="02020603050405020304" pitchFamily="18" charset="0"/>
                        </a:rPr>
                        <a:t>$141.37</a:t>
                      </a:r>
                    </a:p>
                  </a:txBody>
                  <a:tcPr/>
                </a:tc>
                <a:tc hMerge="1">
                  <a:txBody>
                    <a:bodyPr/>
                    <a:lstStyle/>
                    <a:p>
                      <a:endParaRPr lang="zh-CN" altLang="en-US"/>
                    </a:p>
                  </a:txBody>
                  <a:tcPr/>
                </a:tc>
                <a:tc>
                  <a:txBody>
                    <a:bodyPr/>
                    <a:lstStyle/>
                    <a:p>
                      <a:r>
                        <a:rPr lang="zh-CN" altLang="en-US">
                          <a:latin typeface="Times New Roman" panose="02020603050405020304" pitchFamily="18" charset="0"/>
                          <a:cs typeface="Times New Roman" panose="02020603050405020304" pitchFamily="18" charset="0"/>
                        </a:rPr>
                        <a:t>$184.34</a:t>
                      </a:r>
                    </a:p>
                  </a:txBody>
                  <a:tcPr/>
                </a:tc>
                <a:extLst>
                  <a:ext uri="{0D108BD9-81ED-4DB2-BD59-A6C34878D82A}">
                    <a16:rowId xmlns:a16="http://schemas.microsoft.com/office/drawing/2014/main" val="2072481744"/>
                  </a:ext>
                </a:extLst>
              </a:tr>
              <a:tr h="370840">
                <a:tc>
                  <a:txBody>
                    <a:bodyPr/>
                    <a:lstStyle/>
                    <a:p>
                      <a:r>
                        <a:rPr lang="zh-CN" altLang="en-US">
                          <a:latin typeface="Times New Roman" panose="02020603050405020304" pitchFamily="18" charset="0"/>
                          <a:cs typeface="Times New Roman" panose="02020603050405020304" pitchFamily="18" charset="0"/>
                        </a:rPr>
                        <a:t>Price Ratio</a:t>
                      </a:r>
                    </a:p>
                  </a:txBody>
                  <a:tcPr/>
                </a:tc>
                <a:tc>
                  <a:txBody>
                    <a:bodyPr/>
                    <a:lstStyle/>
                    <a:p>
                      <a:r>
                        <a:rPr lang="zh-CN" altLang="en-US">
                          <a:latin typeface="Times New Roman" panose="02020603050405020304" pitchFamily="18" charset="0"/>
                          <a:cs typeface="Times New Roman" panose="02020603050405020304" pitchFamily="18" charset="0"/>
                        </a:rPr>
                        <a:t>0.54</a:t>
                      </a:r>
                    </a:p>
                  </a:txBody>
                  <a:tcPr/>
                </a:tc>
                <a:tc gridSpan="2">
                  <a:txBody>
                    <a:bodyPr/>
                    <a:lstStyle/>
                    <a:p>
                      <a:r>
                        <a:rPr lang="zh-CN" altLang="en-US">
                          <a:latin typeface="Times New Roman" panose="02020603050405020304" pitchFamily="18" charset="0"/>
                          <a:cs typeface="Times New Roman" panose="02020603050405020304" pitchFamily="18" charset="0"/>
                        </a:rPr>
                        <a:t>2.39</a:t>
                      </a:r>
                    </a:p>
                  </a:txBody>
                  <a:tcPr/>
                </a:tc>
                <a:tc hMerge="1">
                  <a:txBody>
                    <a:bodyPr/>
                    <a:lstStyle/>
                    <a:p>
                      <a:endParaRPr lang="zh-CN"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142268"/>
                  </a:ext>
                </a:extLst>
              </a:tr>
            </a:tbl>
          </a:graphicData>
        </a:graphic>
      </p:graphicFrame>
      <p:sp>
        <p:nvSpPr>
          <p:cNvPr id="12" name="文本框 11">
            <a:extLst>
              <a:ext uri="{FF2B5EF4-FFF2-40B4-BE49-F238E27FC236}">
                <a16:creationId xmlns:a16="http://schemas.microsoft.com/office/drawing/2014/main" id="{3AE7ADAE-A951-F114-9A7F-E2DFE9553071}"/>
              </a:ext>
            </a:extLst>
          </p:cNvPr>
          <p:cNvSpPr txBox="1"/>
          <p:nvPr/>
        </p:nvSpPr>
        <p:spPr>
          <a:xfrm>
            <a:off x="6096000" y="1307021"/>
            <a:ext cx="5740400" cy="2308324"/>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We identified properties priced as low as $10 yet projected to reach $181, indicating extreme undervaluation. The host may intentionally underprice to attract bookings quickly.</a:t>
            </a:r>
          </a:p>
          <a:p>
            <a:r>
              <a:rPr lang="en-US" altLang="zh-CN">
                <a:latin typeface="Times New Roman" panose="02020603050405020304" pitchFamily="18" charset="0"/>
                <a:cs typeface="Times New Roman" panose="02020603050405020304" pitchFamily="18" charset="0"/>
              </a:rPr>
              <a:t>We also found cases priced as high as $1,800 with projections as low as $123, signaling significant overvaluation. The host may be overly optimistic about market demand or failing to adjust pricing strategies promptly.</a:t>
            </a:r>
          </a:p>
        </p:txBody>
      </p:sp>
      <p:sp>
        <p:nvSpPr>
          <p:cNvPr id="15" name="矩形: 圆角 14">
            <a:extLst>
              <a:ext uri="{FF2B5EF4-FFF2-40B4-BE49-F238E27FC236}">
                <a16:creationId xmlns:a16="http://schemas.microsoft.com/office/drawing/2014/main" id="{1FD0A845-F908-8B2C-B4B3-2D47CE9DCBB8}"/>
              </a:ext>
            </a:extLst>
          </p:cNvPr>
          <p:cNvSpPr/>
          <p:nvPr/>
        </p:nvSpPr>
        <p:spPr>
          <a:xfrm>
            <a:off x="1397000" y="3943898"/>
            <a:ext cx="9398001" cy="2707826"/>
          </a:xfrm>
          <a:prstGeom prst="roundRect">
            <a:avLst>
              <a:gd name="adj" fmla="val 7971"/>
            </a:avLst>
          </a:prstGeom>
          <a:solidFill>
            <a:schemeClr val="bg1">
              <a:alpha val="52000"/>
            </a:schemeClr>
          </a:solidFill>
          <a:ln>
            <a:solidFill>
              <a:srgbClr val="FF9B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1577CE3F-C950-622E-5721-88C4F822EC4A}"/>
              </a:ext>
            </a:extLst>
          </p:cNvPr>
          <p:cNvSpPr txBox="1"/>
          <p:nvPr/>
        </p:nvSpPr>
        <p:spPr>
          <a:xfrm>
            <a:off x="2159000" y="4180059"/>
            <a:ext cx="7874000" cy="2308324"/>
          </a:xfrm>
          <a:prstGeom prst="rect">
            <a:avLst/>
          </a:prstGeom>
          <a:noFill/>
        </p:spPr>
        <p:txBody>
          <a:bodyPr wrap="square" rtlCol="0">
            <a:spAutoFit/>
          </a:bodyPr>
          <a:lstStyle/>
          <a:p>
            <a:r>
              <a:rPr lang="en-US" altLang="zh-CN" sz="2400">
                <a:latin typeface="Times New Roman" panose="02020603050405020304" pitchFamily="18" charset="0"/>
                <a:cs typeface="Times New Roman" panose="02020603050405020304" pitchFamily="18" charset="0"/>
              </a:rPr>
              <a:t>The random forest model successfully improved price prediction accuracy and identified existing pricing imbalances through residual calculations. This model provides Airbnb hosts with reasonable pricing recommendations while also helping Airbnb optimize its platform algorithms, thereby enhancing market efficiency and consumer experience.</a:t>
            </a:r>
            <a:endParaRPr lang="zh-CN"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712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8CE9F-82B5-5406-7A0E-B9ED437DEF02}"/>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F1C576E-1835-9590-65A3-5D061E344E20}"/>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86A70E78-C4CE-8366-F39E-97BEF1093FF0}"/>
              </a:ext>
            </a:extLst>
          </p:cNvPr>
          <p:cNvSpPr txBox="1"/>
          <p:nvPr/>
        </p:nvSpPr>
        <p:spPr>
          <a:xfrm>
            <a:off x="613568" y="660690"/>
            <a:ext cx="7439025" cy="1200329"/>
          </a:xfrm>
          <a:prstGeom prst="rect">
            <a:avLst/>
          </a:prstGeom>
          <a:noFill/>
        </p:spPr>
        <p:txBody>
          <a:bodyPr wrap="square" lIns="91440" tIns="45720" rIns="91440" bIns="45720" rtlCol="0" anchor="t">
            <a:spAutoFit/>
          </a:bodyPr>
          <a:lstStyle/>
          <a:p>
            <a:r>
              <a:rPr lang="en-US" sz="3600" b="1">
                <a:latin typeface="Times New Roman" panose="02020603050405020304" pitchFamily="18" charset="0"/>
                <a:ea typeface="+mn-lt"/>
                <a:cs typeface="Times New Roman" panose="02020603050405020304" pitchFamily="18" charset="0"/>
              </a:rPr>
              <a:t>Evaluation</a:t>
            </a:r>
            <a:endParaRPr lang="zh-CN" b="1">
              <a:latin typeface="Times New Roman" panose="02020603050405020304" pitchFamily="18" charset="0"/>
              <a:ea typeface="+mn-lt"/>
              <a:cs typeface="Times New Roman" panose="02020603050405020304" pitchFamily="18" charset="0"/>
            </a:endParaRPr>
          </a:p>
          <a:p>
            <a:br>
              <a:rPr lang="en-US"/>
            </a:br>
            <a:endParaRPr lang="en-US"/>
          </a:p>
        </p:txBody>
      </p:sp>
      <p:sp>
        <p:nvSpPr>
          <p:cNvPr id="15" name="文本框 14">
            <a:extLst>
              <a:ext uri="{FF2B5EF4-FFF2-40B4-BE49-F238E27FC236}">
                <a16:creationId xmlns:a16="http://schemas.microsoft.com/office/drawing/2014/main" id="{5561AA53-8DD2-EC55-DCC0-86DE82BF6041}"/>
              </a:ext>
            </a:extLst>
          </p:cNvPr>
          <p:cNvSpPr txBox="1"/>
          <p:nvPr/>
        </p:nvSpPr>
        <p:spPr>
          <a:xfrm>
            <a:off x="613568" y="1426773"/>
            <a:ext cx="7439025" cy="4770537"/>
          </a:xfrm>
          <a:prstGeom prst="rect">
            <a:avLst/>
          </a:prstGeom>
          <a:noFill/>
        </p:spPr>
        <p:txBody>
          <a:bodyPr wrap="square" lIns="91440" tIns="45720" rIns="91440" bIns="45720" rtlCol="0" anchor="t">
            <a:spAutoFit/>
          </a:bodyPr>
          <a:lstStyle/>
          <a:p>
            <a:pPr marL="285750" indent="-285750">
              <a:buFont typeface="Arial"/>
              <a:buChar char="•"/>
            </a:pPr>
            <a:r>
              <a:rPr lang="en-US" sz="2000" b="1">
                <a:latin typeface="Times New Roman"/>
                <a:ea typeface="+mn-lt"/>
                <a:cs typeface="Times New Roman"/>
              </a:rPr>
              <a:t>Metrics Used:</a:t>
            </a:r>
            <a:endParaRPr lang="en-US" sz="2000" b="1">
              <a:latin typeface="Times New Roman"/>
              <a:cs typeface="Times New Roman"/>
            </a:endParaRPr>
          </a:p>
          <a:p>
            <a:pPr marL="800100" lvl="1" indent="-342900">
              <a:buFont typeface="Courier New"/>
              <a:buChar char="o"/>
            </a:pPr>
            <a:r>
              <a:rPr lang="en-US" sz="2000">
                <a:latin typeface="Times New Roman"/>
                <a:ea typeface="+mn-lt"/>
                <a:cs typeface="Times New Roman"/>
              </a:rPr>
              <a:t>R² – variation in price explained by model</a:t>
            </a:r>
            <a:endParaRPr lang="en-US" sz="2000">
              <a:latin typeface="Times New Roman"/>
              <a:ea typeface="等线" panose="02110004020202020204"/>
              <a:cs typeface="Times New Roman"/>
            </a:endParaRPr>
          </a:p>
          <a:p>
            <a:pPr marL="800100" lvl="1" indent="-342900">
              <a:buFont typeface="Courier New"/>
              <a:buChar char="o"/>
            </a:pPr>
            <a:r>
              <a:rPr lang="en-US" sz="2000">
                <a:latin typeface="Times New Roman"/>
                <a:ea typeface="+mn-lt"/>
                <a:cs typeface="Times New Roman"/>
              </a:rPr>
              <a:t>RMSE &amp; MAE – average prediction error</a:t>
            </a:r>
            <a:endParaRPr lang="en-US" sz="2000">
              <a:latin typeface="Times New Roman"/>
              <a:ea typeface="等线" panose="02110004020202020204"/>
              <a:cs typeface="Times New Roman"/>
            </a:endParaRPr>
          </a:p>
          <a:p>
            <a:pPr marL="285750" indent="-285750">
              <a:buFont typeface="Arial"/>
              <a:buChar char="•"/>
            </a:pPr>
            <a:r>
              <a:rPr lang="en-US" sz="2000" b="1">
                <a:latin typeface="Times New Roman"/>
                <a:ea typeface="+mn-lt"/>
                <a:cs typeface="Times New Roman"/>
              </a:rPr>
              <a:t>Performance Summary:</a:t>
            </a:r>
            <a:endParaRPr lang="en-US" sz="2000" b="1">
              <a:latin typeface="Times New Roman"/>
              <a:cs typeface="Times New Roman"/>
            </a:endParaRPr>
          </a:p>
          <a:p>
            <a:pPr marL="742950" lvl="1" indent="-285750">
              <a:buFont typeface="Courier New"/>
              <a:buChar char="o"/>
            </a:pPr>
            <a:r>
              <a:rPr lang="en-US" sz="2000">
                <a:latin typeface="Times New Roman"/>
                <a:ea typeface="+mn-lt"/>
                <a:cs typeface="Times New Roman"/>
              </a:rPr>
              <a:t>Random Forest: Best overall model</a:t>
            </a:r>
            <a:endParaRPr lang="en-US" sz="2000">
              <a:latin typeface="Times New Roman"/>
              <a:ea typeface="等线" panose="02110004020202020204"/>
              <a:cs typeface="Times New Roman"/>
            </a:endParaRPr>
          </a:p>
          <a:p>
            <a:pPr marL="1200150" lvl="2" indent="-285750">
              <a:buFont typeface="Arial"/>
              <a:buChar char="•"/>
            </a:pPr>
            <a:r>
              <a:rPr lang="en-US" sz="2000">
                <a:latin typeface="Times New Roman"/>
                <a:ea typeface="+mn-lt"/>
                <a:cs typeface="Times New Roman"/>
              </a:rPr>
              <a:t>Test R² = 0.6875, RMSE = 0.4007, MAE = 0.2916</a:t>
            </a:r>
            <a:endParaRPr lang="en-US" sz="2000">
              <a:latin typeface="Times New Roman"/>
              <a:cs typeface="Times New Roman"/>
            </a:endParaRPr>
          </a:p>
          <a:p>
            <a:pPr marL="1200150" lvl="2" indent="-285750">
              <a:buFont typeface="Arial"/>
              <a:buChar char="•"/>
            </a:pPr>
            <a:r>
              <a:rPr lang="en-US" sz="2000">
                <a:latin typeface="Times New Roman"/>
                <a:ea typeface="+mn-lt"/>
                <a:cs typeface="Times New Roman"/>
              </a:rPr>
              <a:t>5-fold CV RMSE = 0.4024 → consistent generalization</a:t>
            </a:r>
            <a:endParaRPr lang="en-US" sz="2000">
              <a:latin typeface="Times New Roman"/>
              <a:cs typeface="Times New Roman"/>
            </a:endParaRPr>
          </a:p>
          <a:p>
            <a:pPr marL="742950" lvl="1" indent="-285750">
              <a:buFont typeface="Courier New"/>
              <a:buChar char="o"/>
            </a:pPr>
            <a:r>
              <a:rPr lang="en-US" sz="2000">
                <a:latin typeface="Times New Roman"/>
                <a:ea typeface="+mn-lt"/>
                <a:cs typeface="Times New Roman"/>
              </a:rPr>
              <a:t>Reduced prediction error by 10–15% vs. linear models</a:t>
            </a:r>
            <a:endParaRPr lang="en-US" sz="2000">
              <a:latin typeface="Times New Roman"/>
              <a:ea typeface="等线" panose="02110004020202020204"/>
              <a:cs typeface="Times New Roman"/>
            </a:endParaRPr>
          </a:p>
          <a:p>
            <a:pPr marL="285750" indent="-285750">
              <a:buFont typeface="Arial"/>
              <a:buChar char="•"/>
            </a:pPr>
            <a:r>
              <a:rPr lang="en-US" sz="2000" b="1">
                <a:latin typeface="Times New Roman"/>
                <a:ea typeface="+mn-lt"/>
                <a:cs typeface="Times New Roman"/>
              </a:rPr>
              <a:t>Business Value:</a:t>
            </a:r>
            <a:endParaRPr lang="en-US" sz="2000" b="1">
              <a:latin typeface="Times New Roman"/>
              <a:cs typeface="Times New Roman"/>
            </a:endParaRPr>
          </a:p>
          <a:p>
            <a:pPr marL="742950" lvl="1" indent="-285750">
              <a:buFont typeface="Courier New"/>
              <a:buChar char="o"/>
            </a:pPr>
            <a:r>
              <a:rPr lang="en-US" sz="2000">
                <a:latin typeface="Times New Roman"/>
                <a:ea typeface="+mn-lt"/>
                <a:cs typeface="Times New Roman"/>
              </a:rPr>
              <a:t>Identifies under/overvalued listings</a:t>
            </a:r>
            <a:endParaRPr lang="en-US" sz="2000">
              <a:latin typeface="Times New Roman"/>
              <a:ea typeface="等线" panose="02110004020202020204"/>
              <a:cs typeface="Times New Roman"/>
            </a:endParaRPr>
          </a:p>
          <a:p>
            <a:pPr marL="742950" lvl="1" indent="-285750">
              <a:buFont typeface="Courier New"/>
              <a:buChar char="o"/>
            </a:pPr>
            <a:r>
              <a:rPr lang="en-US" sz="2000">
                <a:latin typeface="Times New Roman"/>
                <a:ea typeface="+mn-lt"/>
                <a:cs typeface="Times New Roman"/>
              </a:rPr>
              <a:t>Enables more equitable, data-driven pricing guidance for hosts</a:t>
            </a:r>
            <a:endParaRPr lang="en-US" sz="2000">
              <a:latin typeface="Times New Roman"/>
              <a:ea typeface="等线" panose="02110004020202020204"/>
              <a:cs typeface="Times New Roman"/>
            </a:endParaRPr>
          </a:p>
          <a:p>
            <a:pPr marL="742950" lvl="1" indent="-285750">
              <a:buFont typeface="Courier New"/>
              <a:buChar char="o"/>
            </a:pPr>
            <a:r>
              <a:rPr lang="en-US" sz="2000">
                <a:latin typeface="Times New Roman"/>
                <a:ea typeface="+mn-lt"/>
                <a:cs typeface="Times New Roman"/>
              </a:rPr>
              <a:t>Improves booking rates, revenue, and trust</a:t>
            </a:r>
            <a:endParaRPr lang="en-US" sz="2000">
              <a:latin typeface="Times New Roman"/>
              <a:ea typeface="等线" panose="02110004020202020204"/>
              <a:cs typeface="Times New Roman"/>
            </a:endParaRPr>
          </a:p>
          <a:p>
            <a:pPr marL="285750" indent="-285750">
              <a:buFont typeface="Arial"/>
              <a:buChar char="•"/>
            </a:pPr>
            <a:r>
              <a:rPr lang="en-US" sz="2000">
                <a:latin typeface="Times New Roman"/>
                <a:ea typeface="+mn-lt"/>
                <a:cs typeface="Times New Roman"/>
              </a:rPr>
              <a:t>ROI Potential:</a:t>
            </a:r>
            <a:endParaRPr lang="en-US" sz="2000">
              <a:latin typeface="Times New Roman"/>
              <a:cs typeface="Times New Roman"/>
            </a:endParaRPr>
          </a:p>
          <a:p>
            <a:pPr marL="742950" lvl="1" indent="-285750">
              <a:buFont typeface="Courier New"/>
              <a:buChar char="o"/>
            </a:pPr>
            <a:r>
              <a:rPr lang="en-US" sz="2000">
                <a:latin typeface="Times New Roman"/>
                <a:ea typeface="+mn-lt"/>
                <a:cs typeface="Times New Roman"/>
              </a:rPr>
              <a:t>5–10% better pricing precision → similar increase in bookings</a:t>
            </a:r>
            <a:endParaRPr lang="en-US" sz="2000">
              <a:latin typeface="Times New Roman"/>
              <a:ea typeface="等线" panose="02110004020202020204"/>
              <a:cs typeface="Times New Roman"/>
            </a:endParaRPr>
          </a:p>
          <a:p>
            <a:pPr marL="742950" lvl="1" indent="-285750">
              <a:buFont typeface="Courier New"/>
              <a:buChar char="o"/>
            </a:pPr>
            <a:r>
              <a:rPr lang="en-US" sz="2000">
                <a:latin typeface="Times New Roman"/>
                <a:ea typeface="+mn-lt"/>
                <a:cs typeface="Times New Roman"/>
              </a:rPr>
              <a:t>Significant revenue impact at Airbnb’s scale</a:t>
            </a:r>
            <a:endParaRPr lang="en-US" sz="2000">
              <a:latin typeface="Times New Roman"/>
              <a:ea typeface="等线" panose="02110004020202020204"/>
              <a:cs typeface="Times New Roman"/>
            </a:endParaRPr>
          </a:p>
        </p:txBody>
      </p:sp>
    </p:spTree>
    <p:extLst>
      <p:ext uri="{BB962C8B-B14F-4D97-AF65-F5344CB8AC3E}">
        <p14:creationId xmlns:p14="http://schemas.microsoft.com/office/powerpoint/2010/main" val="1803277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258D5-8E2C-8254-FDA5-1DE4A98D593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88FA68E5-28F7-3972-774D-35B490102B3E}"/>
              </a:ext>
            </a:extLst>
          </p:cNvPr>
          <p:cNvPicPr>
            <a:picLocks noGrp="1" noRot="1" noChangeAspect="1" noMove="1" noResize="1" noEditPoints="1" noAdjustHandles="1" noChangeArrowheads="1" noChangeShapeType="1" noCrop="1"/>
          </p:cNvPicPr>
          <p:nvPr/>
        </p:nvPicPr>
        <p:blipFill>
          <a:blip r:embed="rId3"/>
          <a:srcRect l="9010"/>
          <a:stretch>
            <a:fillRect/>
          </a:stretch>
        </p:blipFill>
        <p:spPr>
          <a:xfrm>
            <a:off x="0" y="101598"/>
            <a:ext cx="3535556" cy="1752381"/>
          </a:xfrm>
          <a:prstGeom prst="rect">
            <a:avLst/>
          </a:prstGeom>
        </p:spPr>
      </p:pic>
      <p:sp>
        <p:nvSpPr>
          <p:cNvPr id="6" name="文本框 5">
            <a:extLst>
              <a:ext uri="{FF2B5EF4-FFF2-40B4-BE49-F238E27FC236}">
                <a16:creationId xmlns:a16="http://schemas.microsoft.com/office/drawing/2014/main" id="{296F7418-038E-840C-640E-D8D925CACF2E}"/>
              </a:ext>
            </a:extLst>
          </p:cNvPr>
          <p:cNvSpPr txBox="1"/>
          <p:nvPr/>
        </p:nvSpPr>
        <p:spPr>
          <a:xfrm>
            <a:off x="613568" y="660690"/>
            <a:ext cx="7439025" cy="646331"/>
          </a:xfrm>
          <a:prstGeom prst="rect">
            <a:avLst/>
          </a:prstGeom>
          <a:noFill/>
        </p:spPr>
        <p:txBody>
          <a:bodyPr wrap="square" lIns="91440" tIns="45720" rIns="91440" bIns="45720" rtlCol="0" anchor="t">
            <a:spAutoFit/>
          </a:bodyPr>
          <a:lstStyle/>
          <a:p>
            <a:r>
              <a:rPr lang="en-US" sz="3600" b="1">
                <a:latin typeface="Times New Roman" panose="02020603050405020304" pitchFamily="18" charset="0"/>
                <a:ea typeface="+mn-lt"/>
                <a:cs typeface="Times New Roman" panose="02020603050405020304" pitchFamily="18" charset="0"/>
              </a:rPr>
              <a:t>Deployment</a:t>
            </a:r>
            <a:endParaRPr lang="en-US"/>
          </a:p>
        </p:txBody>
      </p:sp>
      <p:sp>
        <p:nvSpPr>
          <p:cNvPr id="15" name="文本框 14">
            <a:extLst>
              <a:ext uri="{FF2B5EF4-FFF2-40B4-BE49-F238E27FC236}">
                <a16:creationId xmlns:a16="http://schemas.microsoft.com/office/drawing/2014/main" id="{F0763B01-77BB-A204-F6AA-05E7C74AA9FB}"/>
              </a:ext>
            </a:extLst>
          </p:cNvPr>
          <p:cNvSpPr txBox="1"/>
          <p:nvPr/>
        </p:nvSpPr>
        <p:spPr>
          <a:xfrm>
            <a:off x="599983" y="1755066"/>
            <a:ext cx="5495259" cy="4093428"/>
          </a:xfrm>
          <a:prstGeom prst="rect">
            <a:avLst/>
          </a:prstGeom>
          <a:noFill/>
        </p:spPr>
        <p:txBody>
          <a:bodyPr wrap="square" lIns="91440" tIns="45720" rIns="91440" bIns="45720" rtlCol="0" anchor="t">
            <a:spAutoFit/>
          </a:bodyPr>
          <a:lstStyle/>
          <a:p>
            <a:pPr marL="342900" indent="-342900">
              <a:buFont typeface="Arial"/>
              <a:buChar char="•"/>
            </a:pPr>
            <a:r>
              <a:rPr lang="en-US" sz="2000" b="1">
                <a:latin typeface="Times New Roman"/>
                <a:ea typeface="+mn-lt"/>
                <a:cs typeface="Times New Roman"/>
              </a:rPr>
              <a:t>Implementation:</a:t>
            </a:r>
            <a:endParaRPr lang="en-US" b="1">
              <a:latin typeface="Times New Roman"/>
              <a:ea typeface="+mn-lt"/>
              <a:cs typeface="Times New Roman"/>
            </a:endParaRPr>
          </a:p>
          <a:p>
            <a:pPr marL="800100" lvl="1" indent="-342900">
              <a:buFont typeface="Courier New"/>
              <a:buChar char="o"/>
            </a:pPr>
            <a:r>
              <a:rPr lang="en-US" sz="2000">
                <a:latin typeface="Times New Roman"/>
                <a:ea typeface="+mn-lt"/>
                <a:cs typeface="Times New Roman"/>
              </a:rPr>
              <a:t>Integrate model into Airbnb’s host dashboard</a:t>
            </a:r>
            <a:endParaRPr lang="en-US">
              <a:latin typeface="Times New Roman"/>
              <a:ea typeface="等线" panose="02110004020202020204"/>
              <a:cs typeface="Times New Roman"/>
            </a:endParaRPr>
          </a:p>
          <a:p>
            <a:pPr marL="800100" lvl="1" indent="-342900">
              <a:buFont typeface="Courier New"/>
              <a:buChar char="o"/>
            </a:pPr>
            <a:r>
              <a:rPr lang="en-US" sz="2000">
                <a:latin typeface="Times New Roman"/>
                <a:ea typeface="+mn-lt"/>
                <a:cs typeface="Times New Roman"/>
              </a:rPr>
              <a:t>Suggest price ranges based on features, location, and amenities</a:t>
            </a:r>
            <a:endParaRPr lang="en-US">
              <a:latin typeface="Times New Roman"/>
              <a:ea typeface="等线" panose="02110004020202020204"/>
              <a:cs typeface="Times New Roman"/>
            </a:endParaRPr>
          </a:p>
          <a:p>
            <a:pPr marL="800100" lvl="1" indent="-342900">
              <a:buFont typeface="Courier New"/>
              <a:buChar char="o"/>
            </a:pPr>
            <a:r>
              <a:rPr lang="en-US" sz="2000">
                <a:latin typeface="Times New Roman"/>
                <a:ea typeface="+mn-lt"/>
                <a:cs typeface="Times New Roman"/>
              </a:rPr>
              <a:t>Update recommendations automatically when listings change</a:t>
            </a:r>
            <a:endParaRPr lang="en-US">
              <a:latin typeface="Times New Roman"/>
              <a:ea typeface="等线" panose="02110004020202020204"/>
              <a:cs typeface="Times New Roman"/>
            </a:endParaRPr>
          </a:p>
          <a:p>
            <a:pPr marL="342900" indent="-342900">
              <a:buFont typeface="Arial"/>
              <a:buChar char="•"/>
            </a:pPr>
            <a:r>
              <a:rPr lang="en-US" sz="2000" b="1">
                <a:latin typeface="Times New Roman"/>
                <a:ea typeface="+mn-lt"/>
                <a:cs typeface="Times New Roman"/>
              </a:rPr>
              <a:t>Deployment Plan:</a:t>
            </a:r>
            <a:endParaRPr lang="en-US" b="1">
              <a:latin typeface="Times New Roman"/>
              <a:ea typeface="+mn-lt"/>
              <a:cs typeface="Times New Roman"/>
            </a:endParaRPr>
          </a:p>
          <a:p>
            <a:pPr lvl="1">
              <a:buFont typeface="Courier New"/>
              <a:buChar char="o"/>
            </a:pPr>
            <a:r>
              <a:rPr lang="en-US" sz="2000">
                <a:latin typeface="Times New Roman"/>
                <a:ea typeface="+mn-lt"/>
                <a:cs typeface="Times New Roman"/>
              </a:rPr>
              <a:t>Start as an optional tool for hosts to review prices</a:t>
            </a:r>
            <a:endParaRPr lang="en-US">
              <a:latin typeface="Times New Roman"/>
              <a:ea typeface="等线" panose="02110004020202020204"/>
              <a:cs typeface="Times New Roman"/>
            </a:endParaRPr>
          </a:p>
          <a:p>
            <a:pPr lvl="1">
              <a:buFont typeface="Courier New"/>
              <a:buChar char="o"/>
            </a:pPr>
            <a:r>
              <a:rPr lang="en-US" sz="2000">
                <a:latin typeface="Times New Roman"/>
                <a:ea typeface="+mn-lt"/>
                <a:cs typeface="Times New Roman"/>
              </a:rPr>
              <a:t>Gradually move toward semi-automated updates</a:t>
            </a:r>
            <a:endParaRPr lang="en-US">
              <a:latin typeface="Times New Roman"/>
              <a:ea typeface="等线" panose="02110004020202020204"/>
              <a:cs typeface="Times New Roman"/>
            </a:endParaRPr>
          </a:p>
          <a:p>
            <a:pPr lvl="1">
              <a:buFont typeface="Courier New"/>
              <a:buChar char="o"/>
            </a:pPr>
            <a:r>
              <a:rPr lang="en-US" sz="2000">
                <a:latin typeface="Times New Roman"/>
                <a:ea typeface="+mn-lt"/>
                <a:cs typeface="Times New Roman"/>
              </a:rPr>
              <a:t>Retrain model regularly to maintain accuracy</a:t>
            </a:r>
            <a:endParaRPr lang="en-US" altLang="zh-CN" sz="2000">
              <a:latin typeface="Times New Roman"/>
              <a:ea typeface="等线"/>
              <a:cs typeface="Times New Roman"/>
            </a:endParaRPr>
          </a:p>
        </p:txBody>
      </p:sp>
      <p:sp>
        <p:nvSpPr>
          <p:cNvPr id="3" name="文本框 2">
            <a:extLst>
              <a:ext uri="{FF2B5EF4-FFF2-40B4-BE49-F238E27FC236}">
                <a16:creationId xmlns:a16="http://schemas.microsoft.com/office/drawing/2014/main" id="{5C6BBA7A-0E7A-59B1-D0D5-F0181F4DEFA8}"/>
              </a:ext>
            </a:extLst>
          </p:cNvPr>
          <p:cNvSpPr txBox="1"/>
          <p:nvPr/>
        </p:nvSpPr>
        <p:spPr>
          <a:xfrm>
            <a:off x="6096758" y="1755066"/>
            <a:ext cx="5495259" cy="4093428"/>
          </a:xfrm>
          <a:prstGeom prst="rect">
            <a:avLst/>
          </a:prstGeom>
          <a:noFill/>
        </p:spPr>
        <p:txBody>
          <a:bodyPr wrap="square" lIns="91440" tIns="45720" rIns="91440" bIns="45720" rtlCol="0" anchor="t">
            <a:spAutoFit/>
          </a:bodyPr>
          <a:lstStyle/>
          <a:p>
            <a:pPr marL="342900" indent="-342900">
              <a:buFont typeface="Arial"/>
              <a:buChar char="•"/>
            </a:pPr>
            <a:r>
              <a:rPr lang="en-US" sz="2000" b="1">
                <a:latin typeface="Times New Roman"/>
                <a:ea typeface="+mn-lt"/>
                <a:cs typeface="Times New Roman"/>
              </a:rPr>
              <a:t>Key Considerations:</a:t>
            </a:r>
            <a:endParaRPr lang="en-US" b="1">
              <a:latin typeface="Times New Roman"/>
              <a:ea typeface="+mn-lt"/>
              <a:cs typeface="Times New Roman"/>
            </a:endParaRPr>
          </a:p>
          <a:p>
            <a:pPr marL="800100" lvl="1" indent="-342900">
              <a:buFont typeface="Courier New"/>
              <a:buChar char="o"/>
            </a:pPr>
            <a:r>
              <a:rPr lang="en-US" sz="2000">
                <a:latin typeface="Times New Roman"/>
                <a:ea typeface="+mn-lt"/>
                <a:cs typeface="Times New Roman"/>
              </a:rPr>
              <a:t>Ensure transparency and fairness in recommendations</a:t>
            </a:r>
            <a:endParaRPr lang="en-US">
              <a:latin typeface="Times New Roman"/>
              <a:ea typeface="等线" panose="02110004020202020204"/>
              <a:cs typeface="Times New Roman"/>
            </a:endParaRPr>
          </a:p>
          <a:p>
            <a:pPr marL="800100" lvl="1" indent="-342900">
              <a:buFont typeface="Courier New"/>
              <a:buChar char="o"/>
            </a:pPr>
            <a:r>
              <a:rPr lang="en-US" sz="2000">
                <a:latin typeface="Times New Roman"/>
                <a:ea typeface="+mn-lt"/>
                <a:cs typeface="Times New Roman"/>
              </a:rPr>
              <a:t>Monitor for pricing bias across neighborhoods</a:t>
            </a:r>
            <a:endParaRPr lang="en-US">
              <a:latin typeface="Times New Roman"/>
              <a:ea typeface="等线" panose="02110004020202020204"/>
              <a:cs typeface="Times New Roman"/>
            </a:endParaRPr>
          </a:p>
          <a:p>
            <a:pPr marL="342900" indent="-342900">
              <a:buFont typeface="Arial"/>
              <a:buChar char="•"/>
            </a:pPr>
            <a:r>
              <a:rPr lang="en-US" sz="2000" b="1">
                <a:latin typeface="Times New Roman"/>
                <a:ea typeface="+mn-lt"/>
                <a:cs typeface="Times New Roman"/>
              </a:rPr>
              <a:t>Risks &amp; Mitigation:</a:t>
            </a:r>
            <a:endParaRPr lang="en-US" b="1">
              <a:latin typeface="Times New Roman"/>
              <a:ea typeface="等线" panose="02110004020202020204"/>
              <a:cs typeface="Times New Roman"/>
            </a:endParaRPr>
          </a:p>
          <a:p>
            <a:pPr lvl="1">
              <a:buFont typeface="Courier New"/>
              <a:buChar char="o"/>
            </a:pPr>
            <a:r>
              <a:rPr lang="en-US" sz="2000">
                <a:latin typeface="Times New Roman"/>
                <a:ea typeface="+mn-lt"/>
                <a:cs typeface="Times New Roman"/>
              </a:rPr>
              <a:t>Biased predictions → apply fairness checks</a:t>
            </a:r>
            <a:endParaRPr lang="en-US">
              <a:latin typeface="Times New Roman"/>
              <a:ea typeface="等线" panose="02110004020202020204"/>
              <a:cs typeface="Times New Roman"/>
            </a:endParaRPr>
          </a:p>
          <a:p>
            <a:pPr lvl="1">
              <a:buFont typeface="Courier New"/>
              <a:buChar char="o"/>
            </a:pPr>
            <a:r>
              <a:rPr lang="en-US" sz="2000">
                <a:latin typeface="Times New Roman"/>
                <a:ea typeface="+mn-lt"/>
                <a:cs typeface="Times New Roman"/>
              </a:rPr>
              <a:t>Model drift → retrain periodically</a:t>
            </a:r>
            <a:endParaRPr lang="en-US">
              <a:latin typeface="Times New Roman"/>
              <a:ea typeface="等线" panose="02110004020202020204"/>
              <a:cs typeface="Times New Roman"/>
            </a:endParaRPr>
          </a:p>
          <a:p>
            <a:pPr lvl="1">
              <a:buFont typeface="Courier New"/>
              <a:buChar char="o"/>
            </a:pPr>
            <a:r>
              <a:rPr lang="en-US" sz="2000">
                <a:latin typeface="Times New Roman"/>
                <a:ea typeface="+mn-lt"/>
                <a:cs typeface="Times New Roman"/>
              </a:rPr>
              <a:t>Host reluctance → maintain user control and clear explanations</a:t>
            </a:r>
            <a:endParaRPr lang="en-US">
              <a:latin typeface="Times New Roman"/>
              <a:ea typeface="等线" panose="02110004020202020204"/>
              <a:cs typeface="Times New Roman"/>
            </a:endParaRPr>
          </a:p>
          <a:p>
            <a:pPr marL="342900" indent="-342900">
              <a:buFont typeface="Arial"/>
              <a:buChar char="•"/>
            </a:pPr>
            <a:r>
              <a:rPr lang="en-US" sz="2000" b="1">
                <a:latin typeface="Times New Roman"/>
                <a:ea typeface="+mn-lt"/>
                <a:cs typeface="Times New Roman"/>
              </a:rPr>
              <a:t>Impact:</a:t>
            </a:r>
            <a:endParaRPr lang="en-US" b="1">
              <a:latin typeface="Times New Roman"/>
              <a:ea typeface="+mn-lt"/>
              <a:cs typeface="Times New Roman"/>
            </a:endParaRPr>
          </a:p>
          <a:p>
            <a:pPr lvl="1">
              <a:buFont typeface="Courier New"/>
              <a:buChar char="o"/>
            </a:pPr>
            <a:r>
              <a:rPr lang="en-US" sz="2000">
                <a:latin typeface="Times New Roman"/>
                <a:ea typeface="+mn-lt"/>
                <a:cs typeface="Times New Roman"/>
              </a:rPr>
              <a:t>Improves pricing consistency, trust, and market efficiency</a:t>
            </a:r>
            <a:endParaRPr lang="en-US">
              <a:latin typeface="Times New Roman"/>
              <a:ea typeface="等线" panose="02110004020202020204"/>
              <a:cs typeface="Times New Roman"/>
            </a:endParaRPr>
          </a:p>
        </p:txBody>
      </p:sp>
    </p:spTree>
    <p:extLst>
      <p:ext uri="{BB962C8B-B14F-4D97-AF65-F5344CB8AC3E}">
        <p14:creationId xmlns:p14="http://schemas.microsoft.com/office/powerpoint/2010/main" val="15040449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293206f-ce55-40fd-a99a-648f5cc06e9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1E84F1101A6646911CDEF768A6ACD8" ma:contentTypeVersion="15" ma:contentTypeDescription="Create a new document." ma:contentTypeScope="" ma:versionID="5f8ae1ed96e76e08a8ccd4dd6d92e272">
  <xsd:schema xmlns:xsd="http://www.w3.org/2001/XMLSchema" xmlns:xs="http://www.w3.org/2001/XMLSchema" xmlns:p="http://schemas.microsoft.com/office/2006/metadata/properties" xmlns:ns3="8293206f-ce55-40fd-a99a-648f5cc06e96" xmlns:ns4="3ae03f4a-8fee-41ea-b091-e04c98fa149d" targetNamespace="http://schemas.microsoft.com/office/2006/metadata/properties" ma:root="true" ma:fieldsID="5e729cc04f9fd74de0e8e07d993ac297" ns3:_="" ns4:_="">
    <xsd:import namespace="8293206f-ce55-40fd-a99a-648f5cc06e96"/>
    <xsd:import namespace="3ae03f4a-8fee-41ea-b091-e04c98fa149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93206f-ce55-40fd-a99a-648f5cc06e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e03f4a-8fee-41ea-b091-e04c98fa149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7C5018-3393-4A1D-ACA7-DFD8A1886398}">
  <ds:schemaRefs>
    <ds:schemaRef ds:uri="http://schemas.microsoft.com/sharepoint/v3/contenttype/forms"/>
  </ds:schemaRefs>
</ds:datastoreItem>
</file>

<file path=customXml/itemProps2.xml><?xml version="1.0" encoding="utf-8"?>
<ds:datastoreItem xmlns:ds="http://schemas.openxmlformats.org/officeDocument/2006/customXml" ds:itemID="{91AE0561-D14C-4F97-8C5E-4FB997765396}">
  <ds:schemaRefs>
    <ds:schemaRef ds:uri="3ae03f4a-8fee-41ea-b091-e04c98fa149d"/>
    <ds:schemaRef ds:uri="8293206f-ce55-40fd-a99a-648f5cc06e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B890C59-239C-4938-9432-345EC8D6511E}">
  <ds:schemaRefs>
    <ds:schemaRef ds:uri="3ae03f4a-8fee-41ea-b091-e04c98fa149d"/>
    <ds:schemaRef ds:uri="8293206f-ce55-40fd-a99a-648f5cc06e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11</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Ziling Chen</dc:creator>
  <cp:revision>3</cp:revision>
  <dcterms:created xsi:type="dcterms:W3CDTF">2025-10-13T21:17:08Z</dcterms:created>
  <dcterms:modified xsi:type="dcterms:W3CDTF">2025-10-14T03:53:44Z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0x0101003B1E84F1101A6646911CDEF768A6ACD8</vt:lpwstr>
  </property>
</Properties>
</file>